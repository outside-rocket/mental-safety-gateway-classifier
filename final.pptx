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3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448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Fill in the project title, team name, one-line pitch, your track, and every member's name and registration number. Delete the four tracks you are not competing on so only your track is left. Do not change the layout, colours or logos.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of your pitch. One clear paragraph. The four prompts below the box are what a judge will look for inside your answer — you do not need to answer them separately.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of your pitch. Be concrete. Avoid phrases like "AI-powered platform" — say what it does and for whom.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of your pitch. The diagram carries this slide — draw it even if it is rough. Name real services and models, not categories.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of your pitch. Judges reward honesty. Name the limitation before they find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of your pitch. Replace 00% with your headline figure and say how you measured it. An estimate is fine if you show the working.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of your pitch. Uncredited work is disqualifying. List everything you leaned on and be clear about what you wrote yourselves.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B"/>
        </a:solidFill>
        <a:effectLst/>
      </p:bgPr>
    </p:bg>
    <p:spTree>
      <p:nvGrpSpPr>
        <p:cNvPr id="1" name=""/>
        <p:cNvGrpSpPr/>
        <p:nvPr/>
      </p:nvGrpSpPr>
      <p:grpSpPr>
        <a:xfrm>
          <a:off x="0" y="0"/>
          <a:ext cx="0" cy="0"/>
          <a:chOff x="0" y="0"/>
          <a:chExt cx="0" cy="0"/>
        </a:xfrm>
      </p:grpSpPr>
      <p:sp>
        <p:nvSpPr>
          <p:cNvPr id="2" name="Shape 0"/>
          <p:cNvSpPr/>
          <p:nvPr/>
        </p:nvSpPr>
        <p:spPr>
          <a:xfrm>
            <a:off x="502920" y="0"/>
            <a:ext cx="0" cy="6858000"/>
          </a:xfrm>
          <a:prstGeom prst="line">
            <a:avLst/>
          </a:prstGeom>
          <a:noFill/>
          <a:ln w="6350">
            <a:solidFill>
              <a:srgbClr val="1A2331"/>
            </a:solidFill>
            <a:prstDash val="solid"/>
          </a:ln>
        </p:spPr>
        <p:txBody>
          <a:bodyPr/>
          <a:lstStyle/>
          <a:p>
            <a:endParaRPr lang="en-IN"/>
          </a:p>
        </p:txBody>
      </p:sp>
      <p:sp>
        <p:nvSpPr>
          <p:cNvPr id="3" name="Shape 1"/>
          <p:cNvSpPr/>
          <p:nvPr/>
        </p:nvSpPr>
        <p:spPr>
          <a:xfrm>
            <a:off x="1005840" y="0"/>
            <a:ext cx="0" cy="6858000"/>
          </a:xfrm>
          <a:prstGeom prst="line">
            <a:avLst/>
          </a:prstGeom>
          <a:noFill/>
          <a:ln w="6350">
            <a:solidFill>
              <a:srgbClr val="1A2331"/>
            </a:solidFill>
            <a:prstDash val="solid"/>
          </a:ln>
        </p:spPr>
        <p:txBody>
          <a:bodyPr/>
          <a:lstStyle/>
          <a:p>
            <a:endParaRPr lang="en-IN"/>
          </a:p>
        </p:txBody>
      </p:sp>
      <p:sp>
        <p:nvSpPr>
          <p:cNvPr id="4" name="Shape 2"/>
          <p:cNvSpPr/>
          <p:nvPr/>
        </p:nvSpPr>
        <p:spPr>
          <a:xfrm>
            <a:off x="1508760" y="0"/>
            <a:ext cx="0" cy="6858000"/>
          </a:xfrm>
          <a:prstGeom prst="line">
            <a:avLst/>
          </a:prstGeom>
          <a:noFill/>
          <a:ln w="6350">
            <a:solidFill>
              <a:srgbClr val="1A2331"/>
            </a:solidFill>
            <a:prstDash val="solid"/>
          </a:ln>
        </p:spPr>
        <p:txBody>
          <a:bodyPr/>
          <a:lstStyle/>
          <a:p>
            <a:endParaRPr lang="en-IN"/>
          </a:p>
        </p:txBody>
      </p:sp>
      <p:sp>
        <p:nvSpPr>
          <p:cNvPr id="5" name="Shape 3"/>
          <p:cNvSpPr/>
          <p:nvPr/>
        </p:nvSpPr>
        <p:spPr>
          <a:xfrm>
            <a:off x="2011680" y="0"/>
            <a:ext cx="0" cy="6858000"/>
          </a:xfrm>
          <a:prstGeom prst="line">
            <a:avLst/>
          </a:prstGeom>
          <a:noFill/>
          <a:ln w="6350">
            <a:solidFill>
              <a:srgbClr val="1A2331"/>
            </a:solidFill>
            <a:prstDash val="solid"/>
          </a:ln>
        </p:spPr>
        <p:txBody>
          <a:bodyPr/>
          <a:lstStyle/>
          <a:p>
            <a:endParaRPr lang="en-IN"/>
          </a:p>
        </p:txBody>
      </p:sp>
      <p:sp>
        <p:nvSpPr>
          <p:cNvPr id="6" name="Shape 4"/>
          <p:cNvSpPr/>
          <p:nvPr/>
        </p:nvSpPr>
        <p:spPr>
          <a:xfrm>
            <a:off x="2514600" y="0"/>
            <a:ext cx="0" cy="6858000"/>
          </a:xfrm>
          <a:prstGeom prst="line">
            <a:avLst/>
          </a:prstGeom>
          <a:noFill/>
          <a:ln w="6350">
            <a:solidFill>
              <a:srgbClr val="1A2331"/>
            </a:solidFill>
            <a:prstDash val="solid"/>
          </a:ln>
        </p:spPr>
        <p:txBody>
          <a:bodyPr/>
          <a:lstStyle/>
          <a:p>
            <a:endParaRPr lang="en-IN"/>
          </a:p>
        </p:txBody>
      </p:sp>
      <p:sp>
        <p:nvSpPr>
          <p:cNvPr id="7" name="Shape 5"/>
          <p:cNvSpPr/>
          <p:nvPr/>
        </p:nvSpPr>
        <p:spPr>
          <a:xfrm>
            <a:off x="3017520" y="0"/>
            <a:ext cx="0" cy="6858000"/>
          </a:xfrm>
          <a:prstGeom prst="line">
            <a:avLst/>
          </a:prstGeom>
          <a:noFill/>
          <a:ln w="6350">
            <a:solidFill>
              <a:srgbClr val="1A2331"/>
            </a:solidFill>
            <a:prstDash val="solid"/>
          </a:ln>
        </p:spPr>
        <p:txBody>
          <a:bodyPr/>
          <a:lstStyle/>
          <a:p>
            <a:endParaRPr lang="en-IN"/>
          </a:p>
        </p:txBody>
      </p:sp>
      <p:sp>
        <p:nvSpPr>
          <p:cNvPr id="8" name="Shape 6"/>
          <p:cNvSpPr/>
          <p:nvPr/>
        </p:nvSpPr>
        <p:spPr>
          <a:xfrm>
            <a:off x="3520440" y="0"/>
            <a:ext cx="0" cy="6858000"/>
          </a:xfrm>
          <a:prstGeom prst="line">
            <a:avLst/>
          </a:prstGeom>
          <a:noFill/>
          <a:ln w="6350">
            <a:solidFill>
              <a:srgbClr val="1A2331"/>
            </a:solidFill>
            <a:prstDash val="solid"/>
          </a:ln>
        </p:spPr>
        <p:txBody>
          <a:bodyPr/>
          <a:lstStyle/>
          <a:p>
            <a:endParaRPr lang="en-IN"/>
          </a:p>
        </p:txBody>
      </p:sp>
      <p:sp>
        <p:nvSpPr>
          <p:cNvPr id="9" name="Shape 7"/>
          <p:cNvSpPr/>
          <p:nvPr/>
        </p:nvSpPr>
        <p:spPr>
          <a:xfrm>
            <a:off x="4023360" y="0"/>
            <a:ext cx="0" cy="6858000"/>
          </a:xfrm>
          <a:prstGeom prst="line">
            <a:avLst/>
          </a:prstGeom>
          <a:noFill/>
          <a:ln w="6350">
            <a:solidFill>
              <a:srgbClr val="1A2331"/>
            </a:solidFill>
            <a:prstDash val="solid"/>
          </a:ln>
        </p:spPr>
        <p:txBody>
          <a:bodyPr/>
          <a:lstStyle/>
          <a:p>
            <a:endParaRPr lang="en-IN"/>
          </a:p>
        </p:txBody>
      </p:sp>
      <p:sp>
        <p:nvSpPr>
          <p:cNvPr id="10" name="Shape 8"/>
          <p:cNvSpPr/>
          <p:nvPr/>
        </p:nvSpPr>
        <p:spPr>
          <a:xfrm>
            <a:off x="4526280" y="0"/>
            <a:ext cx="0" cy="6858000"/>
          </a:xfrm>
          <a:prstGeom prst="line">
            <a:avLst/>
          </a:prstGeom>
          <a:noFill/>
          <a:ln w="6350">
            <a:solidFill>
              <a:srgbClr val="1A2331"/>
            </a:solidFill>
            <a:prstDash val="solid"/>
          </a:ln>
        </p:spPr>
        <p:txBody>
          <a:bodyPr/>
          <a:lstStyle/>
          <a:p>
            <a:endParaRPr lang="en-IN"/>
          </a:p>
        </p:txBody>
      </p:sp>
      <p:sp>
        <p:nvSpPr>
          <p:cNvPr id="11" name="Shape 9"/>
          <p:cNvSpPr/>
          <p:nvPr/>
        </p:nvSpPr>
        <p:spPr>
          <a:xfrm>
            <a:off x="5029200" y="0"/>
            <a:ext cx="0" cy="6858000"/>
          </a:xfrm>
          <a:prstGeom prst="line">
            <a:avLst/>
          </a:prstGeom>
          <a:noFill/>
          <a:ln w="6350">
            <a:solidFill>
              <a:srgbClr val="1A2331"/>
            </a:solidFill>
            <a:prstDash val="solid"/>
          </a:ln>
        </p:spPr>
        <p:txBody>
          <a:bodyPr/>
          <a:lstStyle/>
          <a:p>
            <a:endParaRPr lang="en-IN"/>
          </a:p>
        </p:txBody>
      </p:sp>
      <p:sp>
        <p:nvSpPr>
          <p:cNvPr id="12" name="Shape 10"/>
          <p:cNvSpPr/>
          <p:nvPr/>
        </p:nvSpPr>
        <p:spPr>
          <a:xfrm>
            <a:off x="5532120" y="0"/>
            <a:ext cx="0" cy="6858000"/>
          </a:xfrm>
          <a:prstGeom prst="line">
            <a:avLst/>
          </a:prstGeom>
          <a:noFill/>
          <a:ln w="6350">
            <a:solidFill>
              <a:srgbClr val="1A2331"/>
            </a:solidFill>
            <a:prstDash val="solid"/>
          </a:ln>
        </p:spPr>
        <p:txBody>
          <a:bodyPr/>
          <a:lstStyle/>
          <a:p>
            <a:endParaRPr lang="en-IN"/>
          </a:p>
        </p:txBody>
      </p:sp>
      <p:sp>
        <p:nvSpPr>
          <p:cNvPr id="13" name="Shape 11"/>
          <p:cNvSpPr/>
          <p:nvPr/>
        </p:nvSpPr>
        <p:spPr>
          <a:xfrm>
            <a:off x="6035040" y="0"/>
            <a:ext cx="0" cy="6858000"/>
          </a:xfrm>
          <a:prstGeom prst="line">
            <a:avLst/>
          </a:prstGeom>
          <a:noFill/>
          <a:ln w="6350">
            <a:solidFill>
              <a:srgbClr val="1A2331"/>
            </a:solidFill>
            <a:prstDash val="solid"/>
          </a:ln>
        </p:spPr>
        <p:txBody>
          <a:bodyPr/>
          <a:lstStyle/>
          <a:p>
            <a:endParaRPr lang="en-IN"/>
          </a:p>
        </p:txBody>
      </p:sp>
      <p:sp>
        <p:nvSpPr>
          <p:cNvPr id="14" name="Shape 12"/>
          <p:cNvSpPr/>
          <p:nvPr/>
        </p:nvSpPr>
        <p:spPr>
          <a:xfrm>
            <a:off x="6537960" y="0"/>
            <a:ext cx="0" cy="6858000"/>
          </a:xfrm>
          <a:prstGeom prst="line">
            <a:avLst/>
          </a:prstGeom>
          <a:noFill/>
          <a:ln w="6350">
            <a:solidFill>
              <a:srgbClr val="1A2331"/>
            </a:solidFill>
            <a:prstDash val="solid"/>
          </a:ln>
        </p:spPr>
        <p:txBody>
          <a:bodyPr/>
          <a:lstStyle/>
          <a:p>
            <a:endParaRPr lang="en-IN"/>
          </a:p>
        </p:txBody>
      </p:sp>
      <p:sp>
        <p:nvSpPr>
          <p:cNvPr id="15" name="Shape 13"/>
          <p:cNvSpPr/>
          <p:nvPr/>
        </p:nvSpPr>
        <p:spPr>
          <a:xfrm>
            <a:off x="7040880" y="0"/>
            <a:ext cx="0" cy="6858000"/>
          </a:xfrm>
          <a:prstGeom prst="line">
            <a:avLst/>
          </a:prstGeom>
          <a:noFill/>
          <a:ln w="6350">
            <a:solidFill>
              <a:srgbClr val="1A2331"/>
            </a:solidFill>
            <a:prstDash val="solid"/>
          </a:ln>
        </p:spPr>
        <p:txBody>
          <a:bodyPr/>
          <a:lstStyle/>
          <a:p>
            <a:endParaRPr lang="en-IN"/>
          </a:p>
        </p:txBody>
      </p:sp>
      <p:sp>
        <p:nvSpPr>
          <p:cNvPr id="16" name="Shape 14"/>
          <p:cNvSpPr/>
          <p:nvPr/>
        </p:nvSpPr>
        <p:spPr>
          <a:xfrm>
            <a:off x="7543800" y="0"/>
            <a:ext cx="0" cy="6858000"/>
          </a:xfrm>
          <a:prstGeom prst="line">
            <a:avLst/>
          </a:prstGeom>
          <a:noFill/>
          <a:ln w="6350">
            <a:solidFill>
              <a:srgbClr val="1A2331"/>
            </a:solidFill>
            <a:prstDash val="solid"/>
          </a:ln>
        </p:spPr>
        <p:txBody>
          <a:bodyPr/>
          <a:lstStyle/>
          <a:p>
            <a:endParaRPr lang="en-IN"/>
          </a:p>
        </p:txBody>
      </p:sp>
      <p:sp>
        <p:nvSpPr>
          <p:cNvPr id="17" name="Shape 15"/>
          <p:cNvSpPr/>
          <p:nvPr/>
        </p:nvSpPr>
        <p:spPr>
          <a:xfrm>
            <a:off x="8046720" y="0"/>
            <a:ext cx="0" cy="6858000"/>
          </a:xfrm>
          <a:prstGeom prst="line">
            <a:avLst/>
          </a:prstGeom>
          <a:noFill/>
          <a:ln w="6350">
            <a:solidFill>
              <a:srgbClr val="1A2331"/>
            </a:solidFill>
            <a:prstDash val="solid"/>
          </a:ln>
        </p:spPr>
        <p:txBody>
          <a:bodyPr/>
          <a:lstStyle/>
          <a:p>
            <a:endParaRPr lang="en-IN"/>
          </a:p>
        </p:txBody>
      </p:sp>
      <p:sp>
        <p:nvSpPr>
          <p:cNvPr id="18" name="Shape 16"/>
          <p:cNvSpPr/>
          <p:nvPr/>
        </p:nvSpPr>
        <p:spPr>
          <a:xfrm>
            <a:off x="8549640" y="0"/>
            <a:ext cx="0" cy="6858000"/>
          </a:xfrm>
          <a:prstGeom prst="line">
            <a:avLst/>
          </a:prstGeom>
          <a:noFill/>
          <a:ln w="6350">
            <a:solidFill>
              <a:srgbClr val="1A2331"/>
            </a:solidFill>
            <a:prstDash val="solid"/>
          </a:ln>
        </p:spPr>
        <p:txBody>
          <a:bodyPr/>
          <a:lstStyle/>
          <a:p>
            <a:endParaRPr lang="en-IN"/>
          </a:p>
        </p:txBody>
      </p:sp>
      <p:sp>
        <p:nvSpPr>
          <p:cNvPr id="19" name="Shape 17"/>
          <p:cNvSpPr/>
          <p:nvPr/>
        </p:nvSpPr>
        <p:spPr>
          <a:xfrm>
            <a:off x="9052560" y="0"/>
            <a:ext cx="0" cy="6858000"/>
          </a:xfrm>
          <a:prstGeom prst="line">
            <a:avLst/>
          </a:prstGeom>
          <a:noFill/>
          <a:ln w="6350">
            <a:solidFill>
              <a:srgbClr val="1A2331"/>
            </a:solidFill>
            <a:prstDash val="solid"/>
          </a:ln>
        </p:spPr>
        <p:txBody>
          <a:bodyPr/>
          <a:lstStyle/>
          <a:p>
            <a:endParaRPr lang="en-IN"/>
          </a:p>
        </p:txBody>
      </p:sp>
      <p:sp>
        <p:nvSpPr>
          <p:cNvPr id="20" name="Shape 18"/>
          <p:cNvSpPr/>
          <p:nvPr/>
        </p:nvSpPr>
        <p:spPr>
          <a:xfrm>
            <a:off x="9555480" y="0"/>
            <a:ext cx="0" cy="6858000"/>
          </a:xfrm>
          <a:prstGeom prst="line">
            <a:avLst/>
          </a:prstGeom>
          <a:noFill/>
          <a:ln w="6350">
            <a:solidFill>
              <a:srgbClr val="1A2331"/>
            </a:solidFill>
            <a:prstDash val="solid"/>
          </a:ln>
        </p:spPr>
        <p:txBody>
          <a:bodyPr/>
          <a:lstStyle/>
          <a:p>
            <a:endParaRPr lang="en-IN"/>
          </a:p>
        </p:txBody>
      </p:sp>
      <p:sp>
        <p:nvSpPr>
          <p:cNvPr id="21" name="Shape 19"/>
          <p:cNvSpPr/>
          <p:nvPr/>
        </p:nvSpPr>
        <p:spPr>
          <a:xfrm>
            <a:off x="10058400" y="0"/>
            <a:ext cx="0" cy="6858000"/>
          </a:xfrm>
          <a:prstGeom prst="line">
            <a:avLst/>
          </a:prstGeom>
          <a:noFill/>
          <a:ln w="6350">
            <a:solidFill>
              <a:srgbClr val="1A2331"/>
            </a:solidFill>
            <a:prstDash val="solid"/>
          </a:ln>
        </p:spPr>
        <p:txBody>
          <a:bodyPr/>
          <a:lstStyle/>
          <a:p>
            <a:endParaRPr lang="en-IN"/>
          </a:p>
        </p:txBody>
      </p:sp>
      <p:sp>
        <p:nvSpPr>
          <p:cNvPr id="22" name="Shape 20"/>
          <p:cNvSpPr/>
          <p:nvPr/>
        </p:nvSpPr>
        <p:spPr>
          <a:xfrm>
            <a:off x="10561320" y="0"/>
            <a:ext cx="0" cy="6858000"/>
          </a:xfrm>
          <a:prstGeom prst="line">
            <a:avLst/>
          </a:prstGeom>
          <a:noFill/>
          <a:ln w="6350">
            <a:solidFill>
              <a:srgbClr val="1A2331"/>
            </a:solidFill>
            <a:prstDash val="solid"/>
          </a:ln>
        </p:spPr>
        <p:txBody>
          <a:bodyPr/>
          <a:lstStyle/>
          <a:p>
            <a:endParaRPr lang="en-IN"/>
          </a:p>
        </p:txBody>
      </p:sp>
      <p:sp>
        <p:nvSpPr>
          <p:cNvPr id="23" name="Shape 21"/>
          <p:cNvSpPr/>
          <p:nvPr/>
        </p:nvSpPr>
        <p:spPr>
          <a:xfrm>
            <a:off x="11064240" y="0"/>
            <a:ext cx="0" cy="6858000"/>
          </a:xfrm>
          <a:prstGeom prst="line">
            <a:avLst/>
          </a:prstGeom>
          <a:noFill/>
          <a:ln w="6350">
            <a:solidFill>
              <a:srgbClr val="1A2331"/>
            </a:solidFill>
            <a:prstDash val="solid"/>
          </a:ln>
        </p:spPr>
        <p:txBody>
          <a:bodyPr/>
          <a:lstStyle/>
          <a:p>
            <a:endParaRPr lang="en-IN"/>
          </a:p>
        </p:txBody>
      </p:sp>
      <p:sp>
        <p:nvSpPr>
          <p:cNvPr id="24" name="Shape 22"/>
          <p:cNvSpPr/>
          <p:nvPr/>
        </p:nvSpPr>
        <p:spPr>
          <a:xfrm>
            <a:off x="11567160" y="0"/>
            <a:ext cx="0" cy="6858000"/>
          </a:xfrm>
          <a:prstGeom prst="line">
            <a:avLst/>
          </a:prstGeom>
          <a:noFill/>
          <a:ln w="6350">
            <a:solidFill>
              <a:srgbClr val="1A2331"/>
            </a:solidFill>
            <a:prstDash val="solid"/>
          </a:ln>
        </p:spPr>
        <p:txBody>
          <a:bodyPr/>
          <a:lstStyle/>
          <a:p>
            <a:endParaRPr lang="en-IN"/>
          </a:p>
        </p:txBody>
      </p:sp>
      <p:sp>
        <p:nvSpPr>
          <p:cNvPr id="25" name="Shape 23"/>
          <p:cNvSpPr/>
          <p:nvPr/>
        </p:nvSpPr>
        <p:spPr>
          <a:xfrm>
            <a:off x="12070080" y="0"/>
            <a:ext cx="0" cy="6858000"/>
          </a:xfrm>
          <a:prstGeom prst="line">
            <a:avLst/>
          </a:prstGeom>
          <a:noFill/>
          <a:ln w="6350">
            <a:solidFill>
              <a:srgbClr val="1A2331"/>
            </a:solidFill>
            <a:prstDash val="solid"/>
          </a:ln>
        </p:spPr>
        <p:txBody>
          <a:bodyPr/>
          <a:lstStyle/>
          <a:p>
            <a:endParaRPr lang="en-IN"/>
          </a:p>
        </p:txBody>
      </p:sp>
      <p:sp>
        <p:nvSpPr>
          <p:cNvPr id="26" name="Shape 24"/>
          <p:cNvSpPr/>
          <p:nvPr/>
        </p:nvSpPr>
        <p:spPr>
          <a:xfrm>
            <a:off x="0" y="502920"/>
            <a:ext cx="12191695" cy="0"/>
          </a:xfrm>
          <a:prstGeom prst="line">
            <a:avLst/>
          </a:prstGeom>
          <a:noFill/>
          <a:ln w="6350">
            <a:solidFill>
              <a:srgbClr val="1A2331"/>
            </a:solidFill>
            <a:prstDash val="solid"/>
          </a:ln>
        </p:spPr>
        <p:txBody>
          <a:bodyPr/>
          <a:lstStyle/>
          <a:p>
            <a:endParaRPr lang="en-IN"/>
          </a:p>
        </p:txBody>
      </p:sp>
      <p:sp>
        <p:nvSpPr>
          <p:cNvPr id="27" name="Shape 25"/>
          <p:cNvSpPr/>
          <p:nvPr/>
        </p:nvSpPr>
        <p:spPr>
          <a:xfrm>
            <a:off x="0" y="1005840"/>
            <a:ext cx="12191695" cy="0"/>
          </a:xfrm>
          <a:prstGeom prst="line">
            <a:avLst/>
          </a:prstGeom>
          <a:noFill/>
          <a:ln w="6350">
            <a:solidFill>
              <a:srgbClr val="1A2331"/>
            </a:solidFill>
            <a:prstDash val="solid"/>
          </a:ln>
        </p:spPr>
        <p:txBody>
          <a:bodyPr/>
          <a:lstStyle/>
          <a:p>
            <a:endParaRPr lang="en-IN"/>
          </a:p>
        </p:txBody>
      </p:sp>
      <p:sp>
        <p:nvSpPr>
          <p:cNvPr id="28" name="Shape 26"/>
          <p:cNvSpPr/>
          <p:nvPr/>
        </p:nvSpPr>
        <p:spPr>
          <a:xfrm>
            <a:off x="0" y="1508760"/>
            <a:ext cx="12191695" cy="0"/>
          </a:xfrm>
          <a:prstGeom prst="line">
            <a:avLst/>
          </a:prstGeom>
          <a:noFill/>
          <a:ln w="6350">
            <a:solidFill>
              <a:srgbClr val="1A2331"/>
            </a:solidFill>
            <a:prstDash val="solid"/>
          </a:ln>
        </p:spPr>
        <p:txBody>
          <a:bodyPr/>
          <a:lstStyle/>
          <a:p>
            <a:endParaRPr lang="en-IN"/>
          </a:p>
        </p:txBody>
      </p:sp>
      <p:sp>
        <p:nvSpPr>
          <p:cNvPr id="29" name="Shape 27"/>
          <p:cNvSpPr/>
          <p:nvPr/>
        </p:nvSpPr>
        <p:spPr>
          <a:xfrm>
            <a:off x="0" y="2011680"/>
            <a:ext cx="12191695" cy="0"/>
          </a:xfrm>
          <a:prstGeom prst="line">
            <a:avLst/>
          </a:prstGeom>
          <a:noFill/>
          <a:ln w="6350">
            <a:solidFill>
              <a:srgbClr val="1A2331"/>
            </a:solidFill>
            <a:prstDash val="solid"/>
          </a:ln>
        </p:spPr>
        <p:txBody>
          <a:bodyPr/>
          <a:lstStyle/>
          <a:p>
            <a:endParaRPr lang="en-IN"/>
          </a:p>
        </p:txBody>
      </p:sp>
      <p:sp>
        <p:nvSpPr>
          <p:cNvPr id="30" name="Shape 28"/>
          <p:cNvSpPr/>
          <p:nvPr/>
        </p:nvSpPr>
        <p:spPr>
          <a:xfrm>
            <a:off x="0" y="2514600"/>
            <a:ext cx="12191695" cy="0"/>
          </a:xfrm>
          <a:prstGeom prst="line">
            <a:avLst/>
          </a:prstGeom>
          <a:noFill/>
          <a:ln w="6350">
            <a:solidFill>
              <a:srgbClr val="1A2331"/>
            </a:solidFill>
            <a:prstDash val="solid"/>
          </a:ln>
        </p:spPr>
        <p:txBody>
          <a:bodyPr/>
          <a:lstStyle/>
          <a:p>
            <a:endParaRPr lang="en-IN"/>
          </a:p>
        </p:txBody>
      </p:sp>
      <p:sp>
        <p:nvSpPr>
          <p:cNvPr id="31" name="Shape 29"/>
          <p:cNvSpPr/>
          <p:nvPr/>
        </p:nvSpPr>
        <p:spPr>
          <a:xfrm>
            <a:off x="0" y="3017520"/>
            <a:ext cx="12191695" cy="0"/>
          </a:xfrm>
          <a:prstGeom prst="line">
            <a:avLst/>
          </a:prstGeom>
          <a:noFill/>
          <a:ln w="6350">
            <a:solidFill>
              <a:srgbClr val="1A2331"/>
            </a:solidFill>
            <a:prstDash val="solid"/>
          </a:ln>
        </p:spPr>
        <p:txBody>
          <a:bodyPr/>
          <a:lstStyle/>
          <a:p>
            <a:endParaRPr lang="en-IN"/>
          </a:p>
        </p:txBody>
      </p:sp>
      <p:sp>
        <p:nvSpPr>
          <p:cNvPr id="32" name="Shape 30"/>
          <p:cNvSpPr/>
          <p:nvPr/>
        </p:nvSpPr>
        <p:spPr>
          <a:xfrm>
            <a:off x="0" y="3520440"/>
            <a:ext cx="12191695" cy="0"/>
          </a:xfrm>
          <a:prstGeom prst="line">
            <a:avLst/>
          </a:prstGeom>
          <a:noFill/>
          <a:ln w="6350">
            <a:solidFill>
              <a:srgbClr val="1A2331"/>
            </a:solidFill>
            <a:prstDash val="solid"/>
          </a:ln>
        </p:spPr>
        <p:txBody>
          <a:bodyPr/>
          <a:lstStyle/>
          <a:p>
            <a:endParaRPr lang="en-IN"/>
          </a:p>
        </p:txBody>
      </p:sp>
      <p:sp>
        <p:nvSpPr>
          <p:cNvPr id="33" name="Shape 31"/>
          <p:cNvSpPr/>
          <p:nvPr/>
        </p:nvSpPr>
        <p:spPr>
          <a:xfrm>
            <a:off x="0" y="4023360"/>
            <a:ext cx="12191695" cy="0"/>
          </a:xfrm>
          <a:prstGeom prst="line">
            <a:avLst/>
          </a:prstGeom>
          <a:noFill/>
          <a:ln w="6350">
            <a:solidFill>
              <a:srgbClr val="1A2331"/>
            </a:solidFill>
            <a:prstDash val="solid"/>
          </a:ln>
        </p:spPr>
        <p:txBody>
          <a:bodyPr/>
          <a:lstStyle/>
          <a:p>
            <a:endParaRPr lang="en-IN"/>
          </a:p>
        </p:txBody>
      </p:sp>
      <p:sp>
        <p:nvSpPr>
          <p:cNvPr id="34" name="Shape 32"/>
          <p:cNvSpPr/>
          <p:nvPr/>
        </p:nvSpPr>
        <p:spPr>
          <a:xfrm>
            <a:off x="0" y="4526280"/>
            <a:ext cx="12191695" cy="0"/>
          </a:xfrm>
          <a:prstGeom prst="line">
            <a:avLst/>
          </a:prstGeom>
          <a:noFill/>
          <a:ln w="6350">
            <a:solidFill>
              <a:srgbClr val="1A2331"/>
            </a:solidFill>
            <a:prstDash val="solid"/>
          </a:ln>
        </p:spPr>
        <p:txBody>
          <a:bodyPr/>
          <a:lstStyle/>
          <a:p>
            <a:endParaRPr lang="en-IN"/>
          </a:p>
        </p:txBody>
      </p:sp>
      <p:sp>
        <p:nvSpPr>
          <p:cNvPr id="35" name="Shape 33"/>
          <p:cNvSpPr/>
          <p:nvPr/>
        </p:nvSpPr>
        <p:spPr>
          <a:xfrm>
            <a:off x="0" y="5029200"/>
            <a:ext cx="12191695" cy="0"/>
          </a:xfrm>
          <a:prstGeom prst="line">
            <a:avLst/>
          </a:prstGeom>
          <a:noFill/>
          <a:ln w="6350">
            <a:solidFill>
              <a:srgbClr val="1A2331"/>
            </a:solidFill>
            <a:prstDash val="solid"/>
          </a:ln>
        </p:spPr>
        <p:txBody>
          <a:bodyPr/>
          <a:lstStyle/>
          <a:p>
            <a:endParaRPr lang="en-IN"/>
          </a:p>
        </p:txBody>
      </p:sp>
      <p:sp>
        <p:nvSpPr>
          <p:cNvPr id="36" name="Shape 34"/>
          <p:cNvSpPr/>
          <p:nvPr/>
        </p:nvSpPr>
        <p:spPr>
          <a:xfrm>
            <a:off x="0" y="5532120"/>
            <a:ext cx="12191695" cy="0"/>
          </a:xfrm>
          <a:prstGeom prst="line">
            <a:avLst/>
          </a:prstGeom>
          <a:noFill/>
          <a:ln w="6350">
            <a:solidFill>
              <a:srgbClr val="1A2331"/>
            </a:solidFill>
            <a:prstDash val="solid"/>
          </a:ln>
        </p:spPr>
        <p:txBody>
          <a:bodyPr/>
          <a:lstStyle/>
          <a:p>
            <a:endParaRPr lang="en-IN"/>
          </a:p>
        </p:txBody>
      </p:sp>
      <p:sp>
        <p:nvSpPr>
          <p:cNvPr id="37" name="Shape 35"/>
          <p:cNvSpPr/>
          <p:nvPr/>
        </p:nvSpPr>
        <p:spPr>
          <a:xfrm>
            <a:off x="0" y="6035040"/>
            <a:ext cx="12191695" cy="0"/>
          </a:xfrm>
          <a:prstGeom prst="line">
            <a:avLst/>
          </a:prstGeom>
          <a:noFill/>
          <a:ln w="6350">
            <a:solidFill>
              <a:srgbClr val="1A2331"/>
            </a:solidFill>
            <a:prstDash val="solid"/>
          </a:ln>
        </p:spPr>
        <p:txBody>
          <a:bodyPr/>
          <a:lstStyle/>
          <a:p>
            <a:endParaRPr lang="en-IN"/>
          </a:p>
        </p:txBody>
      </p:sp>
      <p:sp>
        <p:nvSpPr>
          <p:cNvPr id="38" name="Shape 36"/>
          <p:cNvSpPr/>
          <p:nvPr/>
        </p:nvSpPr>
        <p:spPr>
          <a:xfrm>
            <a:off x="0" y="6537960"/>
            <a:ext cx="12191695" cy="0"/>
          </a:xfrm>
          <a:prstGeom prst="line">
            <a:avLst/>
          </a:prstGeom>
          <a:noFill/>
          <a:ln w="6350">
            <a:solidFill>
              <a:srgbClr val="1A2331"/>
            </a:solidFill>
            <a:prstDash val="solid"/>
          </a:ln>
        </p:spPr>
        <p:txBody>
          <a:bodyPr/>
          <a:lstStyle/>
          <a:p>
            <a:endParaRPr lang="en-IN"/>
          </a:p>
        </p:txBody>
      </p:sp>
      <p:sp>
        <p:nvSpPr>
          <p:cNvPr id="39" name="Shape 37"/>
          <p:cNvSpPr/>
          <p:nvPr/>
        </p:nvSpPr>
        <p:spPr>
          <a:xfrm>
            <a:off x="566928" y="420624"/>
            <a:ext cx="274320" cy="274320"/>
          </a:xfrm>
          <a:prstGeom prst="rect">
            <a:avLst/>
          </a:prstGeom>
          <a:solidFill>
            <a:srgbClr val="7C4DE8"/>
          </a:solidFill>
          <a:ln/>
        </p:spPr>
        <p:txBody>
          <a:bodyPr/>
          <a:lstStyle/>
          <a:p>
            <a:endParaRPr lang="en-IN"/>
          </a:p>
        </p:txBody>
      </p:sp>
      <p:sp>
        <p:nvSpPr>
          <p:cNvPr id="40" name="Shape 38"/>
          <p:cNvSpPr/>
          <p:nvPr/>
        </p:nvSpPr>
        <p:spPr>
          <a:xfrm>
            <a:off x="640994" y="494690"/>
            <a:ext cx="126187" cy="126187"/>
          </a:xfrm>
          <a:prstGeom prst="rect">
            <a:avLst/>
          </a:prstGeom>
          <a:solidFill>
            <a:srgbClr val="0E141B"/>
          </a:solidFill>
          <a:ln/>
        </p:spPr>
        <p:txBody>
          <a:bodyPr/>
          <a:lstStyle/>
          <a:p>
            <a:endParaRPr lang="en-IN"/>
          </a:p>
        </p:txBody>
      </p:sp>
      <p:sp>
        <p:nvSpPr>
          <p:cNvPr id="41" name="Shape 39"/>
          <p:cNvSpPr/>
          <p:nvPr/>
        </p:nvSpPr>
        <p:spPr>
          <a:xfrm>
            <a:off x="613562" y="365760"/>
            <a:ext cx="46634" cy="54864"/>
          </a:xfrm>
          <a:prstGeom prst="rect">
            <a:avLst/>
          </a:prstGeom>
          <a:solidFill>
            <a:srgbClr val="7C4DE8"/>
          </a:solidFill>
          <a:ln/>
        </p:spPr>
        <p:txBody>
          <a:bodyPr/>
          <a:lstStyle/>
          <a:p>
            <a:endParaRPr lang="en-IN"/>
          </a:p>
        </p:txBody>
      </p:sp>
      <p:sp>
        <p:nvSpPr>
          <p:cNvPr id="42" name="Shape 40"/>
          <p:cNvSpPr/>
          <p:nvPr/>
        </p:nvSpPr>
        <p:spPr>
          <a:xfrm>
            <a:off x="613562" y="694944"/>
            <a:ext cx="46634" cy="54864"/>
          </a:xfrm>
          <a:prstGeom prst="rect">
            <a:avLst/>
          </a:prstGeom>
          <a:solidFill>
            <a:srgbClr val="7C4DE8"/>
          </a:solidFill>
          <a:ln/>
        </p:spPr>
        <p:txBody>
          <a:bodyPr/>
          <a:lstStyle/>
          <a:p>
            <a:endParaRPr lang="en-IN"/>
          </a:p>
        </p:txBody>
      </p:sp>
      <p:sp>
        <p:nvSpPr>
          <p:cNvPr id="43" name="Shape 41"/>
          <p:cNvSpPr/>
          <p:nvPr/>
        </p:nvSpPr>
        <p:spPr>
          <a:xfrm>
            <a:off x="512064" y="467258"/>
            <a:ext cx="54864" cy="46634"/>
          </a:xfrm>
          <a:prstGeom prst="rect">
            <a:avLst/>
          </a:prstGeom>
          <a:solidFill>
            <a:srgbClr val="7C4DE8"/>
          </a:solidFill>
          <a:ln/>
        </p:spPr>
        <p:txBody>
          <a:bodyPr/>
          <a:lstStyle/>
          <a:p>
            <a:endParaRPr lang="en-IN"/>
          </a:p>
        </p:txBody>
      </p:sp>
      <p:sp>
        <p:nvSpPr>
          <p:cNvPr id="44" name="Shape 42"/>
          <p:cNvSpPr/>
          <p:nvPr/>
        </p:nvSpPr>
        <p:spPr>
          <a:xfrm>
            <a:off x="841248" y="467258"/>
            <a:ext cx="54864" cy="46634"/>
          </a:xfrm>
          <a:prstGeom prst="rect">
            <a:avLst/>
          </a:prstGeom>
          <a:solidFill>
            <a:srgbClr val="7C4DE8"/>
          </a:solidFill>
          <a:ln/>
        </p:spPr>
        <p:txBody>
          <a:bodyPr/>
          <a:lstStyle/>
          <a:p>
            <a:endParaRPr lang="en-IN"/>
          </a:p>
        </p:txBody>
      </p:sp>
      <p:sp>
        <p:nvSpPr>
          <p:cNvPr id="45" name="Shape 43"/>
          <p:cNvSpPr/>
          <p:nvPr/>
        </p:nvSpPr>
        <p:spPr>
          <a:xfrm>
            <a:off x="747979" y="365760"/>
            <a:ext cx="46634" cy="54864"/>
          </a:xfrm>
          <a:prstGeom prst="rect">
            <a:avLst/>
          </a:prstGeom>
          <a:solidFill>
            <a:srgbClr val="7C4DE8"/>
          </a:solidFill>
          <a:ln/>
        </p:spPr>
        <p:txBody>
          <a:bodyPr/>
          <a:lstStyle/>
          <a:p>
            <a:endParaRPr lang="en-IN"/>
          </a:p>
        </p:txBody>
      </p:sp>
      <p:sp>
        <p:nvSpPr>
          <p:cNvPr id="46" name="Shape 44"/>
          <p:cNvSpPr/>
          <p:nvPr/>
        </p:nvSpPr>
        <p:spPr>
          <a:xfrm>
            <a:off x="747979" y="694944"/>
            <a:ext cx="46634" cy="54864"/>
          </a:xfrm>
          <a:prstGeom prst="rect">
            <a:avLst/>
          </a:prstGeom>
          <a:solidFill>
            <a:srgbClr val="7C4DE8"/>
          </a:solidFill>
          <a:ln/>
        </p:spPr>
        <p:txBody>
          <a:bodyPr/>
          <a:lstStyle/>
          <a:p>
            <a:endParaRPr lang="en-IN"/>
          </a:p>
        </p:txBody>
      </p:sp>
      <p:sp>
        <p:nvSpPr>
          <p:cNvPr id="47" name="Shape 45"/>
          <p:cNvSpPr/>
          <p:nvPr/>
        </p:nvSpPr>
        <p:spPr>
          <a:xfrm>
            <a:off x="512064" y="601675"/>
            <a:ext cx="54864" cy="46634"/>
          </a:xfrm>
          <a:prstGeom prst="rect">
            <a:avLst/>
          </a:prstGeom>
          <a:solidFill>
            <a:srgbClr val="7C4DE8"/>
          </a:solidFill>
          <a:ln/>
        </p:spPr>
        <p:txBody>
          <a:bodyPr/>
          <a:lstStyle/>
          <a:p>
            <a:endParaRPr lang="en-IN"/>
          </a:p>
        </p:txBody>
      </p:sp>
      <p:sp>
        <p:nvSpPr>
          <p:cNvPr id="48" name="Shape 46"/>
          <p:cNvSpPr/>
          <p:nvPr/>
        </p:nvSpPr>
        <p:spPr>
          <a:xfrm>
            <a:off x="841248" y="601675"/>
            <a:ext cx="54864" cy="46634"/>
          </a:xfrm>
          <a:prstGeom prst="rect">
            <a:avLst/>
          </a:prstGeom>
          <a:solidFill>
            <a:srgbClr val="7C4DE8"/>
          </a:solidFill>
          <a:ln/>
        </p:spPr>
        <p:txBody>
          <a:bodyPr/>
          <a:lstStyle/>
          <a:p>
            <a:endParaRPr lang="en-IN"/>
          </a:p>
        </p:txBody>
      </p:sp>
      <p:sp>
        <p:nvSpPr>
          <p:cNvPr id="49" name="Text 47"/>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FFFFFF"/>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50" name="Text 48"/>
          <p:cNvSpPr/>
          <p:nvPr/>
        </p:nvSpPr>
        <p:spPr>
          <a:xfrm>
            <a:off x="7589520" y="384048"/>
            <a:ext cx="4023360" cy="274320"/>
          </a:xfrm>
          <a:prstGeom prst="rect">
            <a:avLst/>
          </a:prstGeom>
          <a:noFill/>
          <a:ln/>
        </p:spPr>
        <p:txBody>
          <a:bodyPr wrap="square" lIns="0" tIns="0" rIns="0" bIns="0" rtlCol="0" anchor="ctr"/>
          <a:lstStyle/>
          <a:p>
            <a:pPr marL="0" indent="0" algn="r">
              <a:buNone/>
            </a:pPr>
            <a:r>
              <a:rPr lang="en-US" sz="900" kern="0" spc="120" dirty="0">
                <a:solidFill>
                  <a:srgbClr val="9AA3AE"/>
                </a:solidFill>
                <a:latin typeface="Consolas" pitchFamily="34" charset="0"/>
                <a:ea typeface="Consolas" pitchFamily="34" charset="-122"/>
                <a:cs typeface="Consolas" pitchFamily="34" charset="-120"/>
              </a:rPr>
              <a:t>SUBMISSION TEMPLATE · JULY 30-31</a:t>
            </a:r>
            <a:endParaRPr lang="en-US" sz="900" dirty="0"/>
          </a:p>
        </p:txBody>
      </p:sp>
      <p:sp>
        <p:nvSpPr>
          <p:cNvPr id="51" name="Text 49"/>
          <p:cNvSpPr/>
          <p:nvPr/>
        </p:nvSpPr>
        <p:spPr>
          <a:xfrm>
            <a:off x="530352" y="1005840"/>
            <a:ext cx="11155680" cy="960120"/>
          </a:xfrm>
          <a:prstGeom prst="rect">
            <a:avLst/>
          </a:prstGeom>
          <a:noFill/>
          <a:ln/>
        </p:spPr>
        <p:txBody>
          <a:bodyPr wrap="square" lIns="0" tIns="0" rIns="0" bIns="0" rtlCol="0" anchor="ctr"/>
          <a:lstStyle/>
          <a:p>
            <a:pPr marL="0" indent="0">
              <a:buNone/>
            </a:pPr>
            <a:r>
              <a:rPr lang="en-US" sz="5600" kern="0" spc="600" dirty="0">
                <a:solidFill>
                  <a:srgbClr val="FFFFFF"/>
                </a:solidFill>
                <a:latin typeface="Arial Black" pitchFamily="34" charset="0"/>
                <a:ea typeface="Arial Black" pitchFamily="34" charset="-122"/>
                <a:cs typeface="Arial Black" pitchFamily="34" charset="-120"/>
              </a:rPr>
              <a:t>FRONT</a:t>
            </a:r>
            <a:r>
              <a:rPr lang="en-US" sz="5600" kern="0" spc="600" dirty="0">
                <a:solidFill>
                  <a:srgbClr val="7C4DE8"/>
                </a:solidFill>
                <a:latin typeface="Arial Black" pitchFamily="34" charset="0"/>
                <a:ea typeface="Arial Black" pitchFamily="34" charset="-122"/>
                <a:cs typeface="Arial Black" pitchFamily="34" charset="-120"/>
              </a:rPr>
              <a:t>IER</a:t>
            </a:r>
            <a:endParaRPr lang="en-US" sz="5600" dirty="0"/>
          </a:p>
        </p:txBody>
      </p:sp>
      <p:sp>
        <p:nvSpPr>
          <p:cNvPr id="52" name="Shape 50"/>
          <p:cNvSpPr/>
          <p:nvPr/>
        </p:nvSpPr>
        <p:spPr>
          <a:xfrm>
            <a:off x="566928" y="2048256"/>
            <a:ext cx="7589520" cy="402336"/>
          </a:xfrm>
          <a:prstGeom prst="rect">
            <a:avLst/>
          </a:prstGeom>
          <a:ln w="9525">
            <a:solidFill>
              <a:srgbClr val="FFFFFF"/>
            </a:solidFill>
            <a:prstDash val="solid"/>
          </a:ln>
        </p:spPr>
        <p:txBody>
          <a:bodyPr/>
          <a:lstStyle/>
          <a:p>
            <a:endParaRPr lang="en-IN"/>
          </a:p>
        </p:txBody>
      </p:sp>
      <p:sp>
        <p:nvSpPr>
          <p:cNvPr id="53" name="Text 51"/>
          <p:cNvSpPr/>
          <p:nvPr/>
        </p:nvSpPr>
        <p:spPr>
          <a:xfrm>
            <a:off x="822960" y="2048256"/>
            <a:ext cx="7132320" cy="402336"/>
          </a:xfrm>
          <a:prstGeom prst="rect">
            <a:avLst/>
          </a:prstGeom>
          <a:noFill/>
          <a:ln/>
        </p:spPr>
        <p:txBody>
          <a:bodyPr wrap="square" lIns="0" tIns="0" rIns="0" bIns="0" rtlCol="0" anchor="ctr"/>
          <a:lstStyle/>
          <a:p>
            <a:pPr marL="0" indent="0">
              <a:buNone/>
            </a:pPr>
            <a:r>
              <a:rPr lang="en-US" sz="1300" kern="0" spc="300" dirty="0">
                <a:solidFill>
                  <a:srgbClr val="FFFFFF"/>
                </a:solidFill>
                <a:latin typeface="Consolas" pitchFamily="34" charset="0"/>
                <a:ea typeface="Consolas" pitchFamily="34" charset="-122"/>
                <a:cs typeface="Consolas" pitchFamily="34" charset="-120"/>
              </a:rPr>
              <a:t>B U I L D   T H E   N E X T</a:t>
            </a:r>
            <a:endParaRPr lang="en-US" sz="1300" dirty="0"/>
          </a:p>
        </p:txBody>
      </p:sp>
      <p:sp>
        <p:nvSpPr>
          <p:cNvPr id="54" name="Shape 52"/>
          <p:cNvSpPr/>
          <p:nvPr/>
        </p:nvSpPr>
        <p:spPr>
          <a:xfrm>
            <a:off x="8156448" y="2048256"/>
            <a:ext cx="1325880" cy="402336"/>
          </a:xfrm>
          <a:prstGeom prst="rect">
            <a:avLst/>
          </a:prstGeom>
          <a:solidFill>
            <a:srgbClr val="7C4DE8"/>
          </a:solidFill>
          <a:ln/>
        </p:spPr>
        <p:txBody>
          <a:bodyPr/>
          <a:lstStyle/>
          <a:p>
            <a:endParaRPr lang="en-IN"/>
          </a:p>
        </p:txBody>
      </p:sp>
      <p:sp>
        <p:nvSpPr>
          <p:cNvPr id="55" name="Text 53"/>
          <p:cNvSpPr/>
          <p:nvPr/>
        </p:nvSpPr>
        <p:spPr>
          <a:xfrm>
            <a:off x="8156448" y="2048256"/>
            <a:ext cx="1325880" cy="402336"/>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onsolas" pitchFamily="34" charset="0"/>
                <a:ea typeface="Consolas" pitchFamily="34" charset="-122"/>
                <a:cs typeface="Consolas" pitchFamily="34" charset="-120"/>
              </a:rPr>
              <a:t>A I</a:t>
            </a:r>
            <a:endParaRPr lang="en-US" sz="1300" dirty="0"/>
          </a:p>
        </p:txBody>
      </p:sp>
      <p:sp>
        <p:nvSpPr>
          <p:cNvPr id="56" name="Text 54"/>
          <p:cNvSpPr/>
          <p:nvPr/>
        </p:nvSpPr>
        <p:spPr>
          <a:xfrm>
            <a:off x="566928" y="27889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PROJECT TITLE</a:t>
            </a:r>
            <a:endParaRPr lang="en-US" sz="900" dirty="0"/>
          </a:p>
        </p:txBody>
      </p:sp>
      <p:sp>
        <p:nvSpPr>
          <p:cNvPr id="57" name="Shape 55"/>
          <p:cNvSpPr/>
          <p:nvPr/>
        </p:nvSpPr>
        <p:spPr>
          <a:xfrm>
            <a:off x="566928" y="2999232"/>
            <a:ext cx="5577840" cy="566928"/>
          </a:xfrm>
          <a:prstGeom prst="roundRect">
            <a:avLst>
              <a:gd name="adj" fmla="val 6452"/>
            </a:avLst>
          </a:prstGeom>
          <a:solidFill>
            <a:srgbClr val="18212C"/>
          </a:solidFill>
          <a:ln w="9525">
            <a:solidFill>
              <a:srgbClr val="2A3441"/>
            </a:solidFill>
            <a:prstDash val="solid"/>
          </a:ln>
        </p:spPr>
        <p:txBody>
          <a:bodyPr/>
          <a:lstStyle/>
          <a:p>
            <a:endParaRPr lang="en-IN" dirty="0"/>
          </a:p>
        </p:txBody>
      </p:sp>
      <p:sp>
        <p:nvSpPr>
          <p:cNvPr id="58" name="Text 56"/>
          <p:cNvSpPr/>
          <p:nvPr/>
        </p:nvSpPr>
        <p:spPr>
          <a:xfrm>
            <a:off x="713232" y="2999232"/>
            <a:ext cx="5285232" cy="566928"/>
          </a:xfrm>
          <a:prstGeom prst="rect">
            <a:avLst/>
          </a:prstGeom>
          <a:noFill/>
          <a:ln/>
        </p:spPr>
        <p:txBody>
          <a:bodyPr wrap="square" lIns="762" tIns="762" rIns="762" bIns="762" rtlCol="0" anchor="t"/>
          <a:lstStyle/>
          <a:p>
            <a:pPr marL="0" indent="0">
              <a:buNone/>
            </a:pPr>
            <a:r>
              <a:rPr lang="en-US" sz="2800" b="1" i="1" dirty="0" err="1">
                <a:solidFill>
                  <a:schemeClr val="bg1"/>
                </a:solidFill>
                <a:latin typeface="Arial" pitchFamily="34" charset="0"/>
                <a:cs typeface="Arial" pitchFamily="34" charset="-120"/>
              </a:rPr>
              <a:t>HeADGate</a:t>
            </a:r>
            <a:endParaRPr lang="en-US" sz="2800" b="1" dirty="0">
              <a:solidFill>
                <a:schemeClr val="bg1"/>
              </a:solidFill>
            </a:endParaRPr>
          </a:p>
        </p:txBody>
      </p:sp>
      <p:sp>
        <p:nvSpPr>
          <p:cNvPr id="59" name="Text 57"/>
          <p:cNvSpPr/>
          <p:nvPr/>
        </p:nvSpPr>
        <p:spPr>
          <a:xfrm>
            <a:off x="566928" y="37033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TEAM NAME</a:t>
            </a:r>
            <a:endParaRPr lang="en-US" sz="900" dirty="0"/>
          </a:p>
        </p:txBody>
      </p:sp>
      <p:sp>
        <p:nvSpPr>
          <p:cNvPr id="60" name="Shape 58"/>
          <p:cNvSpPr/>
          <p:nvPr/>
        </p:nvSpPr>
        <p:spPr>
          <a:xfrm>
            <a:off x="566928" y="3913632"/>
            <a:ext cx="5577840" cy="566928"/>
          </a:xfrm>
          <a:prstGeom prst="roundRect">
            <a:avLst>
              <a:gd name="adj" fmla="val 6452"/>
            </a:avLst>
          </a:prstGeom>
          <a:solidFill>
            <a:srgbClr val="18212C"/>
          </a:solidFill>
          <a:ln w="9525">
            <a:solidFill>
              <a:srgbClr val="2A3441"/>
            </a:solidFill>
            <a:prstDash val="solid"/>
          </a:ln>
        </p:spPr>
        <p:txBody>
          <a:bodyPr/>
          <a:lstStyle/>
          <a:p>
            <a:r>
              <a:rPr lang="en-US" b="1" dirty="0" err="1">
                <a:solidFill>
                  <a:schemeClr val="bg1"/>
                </a:solidFill>
              </a:rPr>
              <a:t>SideQuest</a:t>
            </a:r>
            <a:endParaRPr lang="en-IN" b="1" dirty="0">
              <a:solidFill>
                <a:schemeClr val="bg1"/>
              </a:solidFill>
            </a:endParaRPr>
          </a:p>
        </p:txBody>
      </p:sp>
      <p:sp>
        <p:nvSpPr>
          <p:cNvPr id="61" name="Text 59"/>
          <p:cNvSpPr/>
          <p:nvPr/>
        </p:nvSpPr>
        <p:spPr>
          <a:xfrm>
            <a:off x="713232" y="3913632"/>
            <a:ext cx="5285232" cy="566928"/>
          </a:xfrm>
          <a:prstGeom prst="rect">
            <a:avLst/>
          </a:prstGeom>
          <a:noFill/>
          <a:ln/>
        </p:spPr>
        <p:txBody>
          <a:bodyPr wrap="square" lIns="762" tIns="762" rIns="762" bIns="762" rtlCol="0" anchor="t"/>
          <a:lstStyle/>
          <a:p>
            <a:pPr marL="0" indent="0">
              <a:buNone/>
            </a:pPr>
            <a:endParaRPr lang="en-US" sz="1100" dirty="0"/>
          </a:p>
        </p:txBody>
      </p:sp>
      <p:sp>
        <p:nvSpPr>
          <p:cNvPr id="62" name="Text 60"/>
          <p:cNvSpPr/>
          <p:nvPr/>
        </p:nvSpPr>
        <p:spPr>
          <a:xfrm>
            <a:off x="566928" y="46177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ONE-LINE PITCH</a:t>
            </a:r>
            <a:endParaRPr lang="en-US" sz="900" dirty="0"/>
          </a:p>
        </p:txBody>
      </p:sp>
      <p:sp>
        <p:nvSpPr>
          <p:cNvPr id="63" name="Shape 61"/>
          <p:cNvSpPr/>
          <p:nvPr/>
        </p:nvSpPr>
        <p:spPr>
          <a:xfrm>
            <a:off x="566928" y="4828032"/>
            <a:ext cx="5577840" cy="1143000"/>
          </a:xfrm>
          <a:prstGeom prst="roundRect">
            <a:avLst>
              <a:gd name="adj" fmla="val 3200"/>
            </a:avLst>
          </a:prstGeom>
          <a:solidFill>
            <a:srgbClr val="18212C"/>
          </a:solidFill>
          <a:ln w="9525">
            <a:solidFill>
              <a:srgbClr val="2A3441"/>
            </a:solidFill>
            <a:prstDash val="solid"/>
          </a:ln>
        </p:spPr>
        <p:txBody>
          <a:bodyPr/>
          <a:lstStyle/>
          <a:p>
            <a:endParaRPr lang="en-IN"/>
          </a:p>
        </p:txBody>
      </p:sp>
      <p:sp>
        <p:nvSpPr>
          <p:cNvPr id="64" name="Text 62"/>
          <p:cNvSpPr/>
          <p:nvPr/>
        </p:nvSpPr>
        <p:spPr>
          <a:xfrm>
            <a:off x="713232" y="4828032"/>
            <a:ext cx="5285232" cy="1143000"/>
          </a:xfrm>
          <a:prstGeom prst="rect">
            <a:avLst/>
          </a:prstGeom>
          <a:noFill/>
          <a:ln/>
        </p:spPr>
        <p:txBody>
          <a:bodyPr wrap="square" lIns="762" tIns="762" rIns="762" bIns="762" rtlCol="0" anchor="t"/>
          <a:lstStyle/>
          <a:p>
            <a:pPr marL="0" indent="0">
              <a:buNone/>
            </a:pPr>
            <a:r>
              <a:rPr lang="en-US" sz="1100" i="0" dirty="0" err="1">
                <a:solidFill>
                  <a:schemeClr val="bg1"/>
                </a:solidFill>
                <a:latin typeface="Arial" pitchFamily="34" charset="0"/>
                <a:ea typeface="Arial" pitchFamily="34" charset="-122"/>
                <a:cs typeface="Arial" pitchFamily="34" charset="-120"/>
              </a:rPr>
              <a:t>HeADGate</a:t>
            </a:r>
            <a:r>
              <a:rPr lang="en-US" sz="1100" i="0" dirty="0">
                <a:solidFill>
                  <a:schemeClr val="bg1"/>
                </a:solidFill>
                <a:latin typeface="Arial" pitchFamily="34" charset="0"/>
                <a:ea typeface="Arial" pitchFamily="34" charset="-122"/>
                <a:cs typeface="Arial" pitchFamily="34" charset="-120"/>
              </a:rPr>
              <a:t> is a router based agent that notices crisis-level distress in a person's own searches in real time and quietly connects them to real help or the attention of the guardian without a single word ever leaving their </a:t>
            </a:r>
            <a:r>
              <a:rPr lang="en-US" sz="1100" dirty="0">
                <a:solidFill>
                  <a:schemeClr val="bg1"/>
                </a:solidFill>
                <a:latin typeface="Arial" pitchFamily="34" charset="0"/>
                <a:ea typeface="Arial" pitchFamily="34" charset="-122"/>
                <a:cs typeface="Arial" pitchFamily="34" charset="-120"/>
              </a:rPr>
              <a:t>network </a:t>
            </a:r>
            <a:endParaRPr lang="en-US" sz="1100" dirty="0"/>
          </a:p>
        </p:txBody>
      </p:sp>
      <p:sp>
        <p:nvSpPr>
          <p:cNvPr id="65" name="Text 63"/>
          <p:cNvSpPr/>
          <p:nvPr/>
        </p:nvSpPr>
        <p:spPr>
          <a:xfrm>
            <a:off x="6492240" y="2788920"/>
            <a:ext cx="51206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TRACK</a:t>
            </a:r>
            <a:endParaRPr lang="en-US" sz="900" dirty="0"/>
          </a:p>
        </p:txBody>
      </p:sp>
      <p:sp>
        <p:nvSpPr>
          <p:cNvPr id="82" name="Shape 80"/>
          <p:cNvSpPr/>
          <p:nvPr/>
        </p:nvSpPr>
        <p:spPr>
          <a:xfrm>
            <a:off x="6492240" y="2999232"/>
            <a:ext cx="5120640" cy="310896"/>
          </a:xfrm>
          <a:prstGeom prst="rect">
            <a:avLst/>
          </a:prstGeom>
          <a:solidFill>
            <a:srgbClr val="18212C"/>
          </a:solidFill>
          <a:ln w="9525">
            <a:solidFill>
              <a:srgbClr val="2A3441"/>
            </a:solidFill>
            <a:prstDash val="solid"/>
          </a:ln>
        </p:spPr>
        <p:txBody>
          <a:bodyPr/>
          <a:lstStyle/>
          <a:p>
            <a:endParaRPr lang="en-IN"/>
          </a:p>
        </p:txBody>
      </p:sp>
      <p:sp>
        <p:nvSpPr>
          <p:cNvPr id="83" name="Shape 81"/>
          <p:cNvSpPr/>
          <p:nvPr/>
        </p:nvSpPr>
        <p:spPr>
          <a:xfrm>
            <a:off x="6492240" y="2999232"/>
            <a:ext cx="384048" cy="310896"/>
          </a:xfrm>
          <a:prstGeom prst="rect">
            <a:avLst/>
          </a:prstGeom>
          <a:solidFill>
            <a:srgbClr val="7C4DE8"/>
          </a:solidFill>
          <a:ln/>
        </p:spPr>
        <p:txBody>
          <a:bodyPr/>
          <a:lstStyle/>
          <a:p>
            <a:endParaRPr lang="en-IN"/>
          </a:p>
        </p:txBody>
      </p:sp>
      <p:sp>
        <p:nvSpPr>
          <p:cNvPr id="84" name="Text 82"/>
          <p:cNvSpPr/>
          <p:nvPr/>
        </p:nvSpPr>
        <p:spPr>
          <a:xfrm>
            <a:off x="6492240" y="2999232"/>
            <a:ext cx="384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05</a:t>
            </a:r>
            <a:endParaRPr lang="en-US" sz="950" dirty="0"/>
          </a:p>
        </p:txBody>
      </p:sp>
      <p:sp>
        <p:nvSpPr>
          <p:cNvPr id="85" name="Text 83"/>
          <p:cNvSpPr/>
          <p:nvPr/>
        </p:nvSpPr>
        <p:spPr>
          <a:xfrm>
            <a:off x="7004304" y="2999232"/>
            <a:ext cx="4480560" cy="310896"/>
          </a:xfrm>
          <a:prstGeom prst="rect">
            <a:avLst/>
          </a:prstGeom>
          <a:noFill/>
          <a:ln/>
        </p:spPr>
        <p:txBody>
          <a:bodyPr wrap="square" lIns="0" tIns="0" rIns="0" bIns="0" rtlCol="0" anchor="ctr"/>
          <a:lstStyle/>
          <a:p>
            <a:pPr marL="0" indent="0">
              <a:buNone/>
            </a:pPr>
            <a:r>
              <a:rPr lang="en-US" sz="1100" kern="0" spc="50" dirty="0">
                <a:solidFill>
                  <a:srgbClr val="FFFFFF"/>
                </a:solidFill>
                <a:latin typeface="Arial" pitchFamily="34" charset="0"/>
                <a:ea typeface="Arial" pitchFamily="34" charset="-122"/>
                <a:cs typeface="Arial" pitchFamily="34" charset="-120"/>
              </a:rPr>
              <a:t>AI SAFETY &amp; OBSERVABILITY</a:t>
            </a:r>
            <a:endParaRPr lang="en-US" sz="1100" dirty="0"/>
          </a:p>
        </p:txBody>
      </p:sp>
      <p:sp>
        <p:nvSpPr>
          <p:cNvPr id="86" name="Text 84"/>
          <p:cNvSpPr/>
          <p:nvPr/>
        </p:nvSpPr>
        <p:spPr>
          <a:xfrm>
            <a:off x="6492240" y="3520440"/>
            <a:ext cx="51206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TEAM MEMBERS  ·  NAME + REG. NO.</a:t>
            </a:r>
            <a:endParaRPr lang="en-US" sz="900" dirty="0"/>
          </a:p>
        </p:txBody>
      </p:sp>
      <p:sp>
        <p:nvSpPr>
          <p:cNvPr id="87" name="Shape 85"/>
          <p:cNvSpPr/>
          <p:nvPr/>
        </p:nvSpPr>
        <p:spPr>
          <a:xfrm>
            <a:off x="6492240" y="3730752"/>
            <a:ext cx="5120640" cy="777240"/>
          </a:xfrm>
          <a:prstGeom prst="roundRect">
            <a:avLst>
              <a:gd name="adj" fmla="val 4706"/>
            </a:avLst>
          </a:prstGeom>
          <a:solidFill>
            <a:srgbClr val="18212C"/>
          </a:solidFill>
          <a:ln w="9525">
            <a:solidFill>
              <a:srgbClr val="2A3441"/>
            </a:solidFill>
            <a:prstDash val="solid"/>
          </a:ln>
        </p:spPr>
        <p:txBody>
          <a:bodyPr/>
          <a:lstStyle/>
          <a:p>
            <a:endParaRPr lang="en-IN"/>
          </a:p>
        </p:txBody>
      </p:sp>
      <p:sp>
        <p:nvSpPr>
          <p:cNvPr id="88" name="Text 86"/>
          <p:cNvSpPr/>
          <p:nvPr/>
        </p:nvSpPr>
        <p:spPr>
          <a:xfrm>
            <a:off x="6638544" y="3730752"/>
            <a:ext cx="4828032" cy="777240"/>
          </a:xfrm>
          <a:prstGeom prst="rect">
            <a:avLst/>
          </a:prstGeom>
          <a:noFill/>
          <a:ln/>
        </p:spPr>
        <p:txBody>
          <a:bodyPr wrap="square" lIns="762" tIns="762" rIns="762" bIns="762" rtlCol="0" anchor="t"/>
          <a:lstStyle/>
          <a:p>
            <a:pPr marL="0" indent="0">
              <a:buNone/>
            </a:pPr>
            <a:r>
              <a:rPr lang="en-US" sz="1100" i="1" dirty="0">
                <a:solidFill>
                  <a:srgbClr val="667180"/>
                </a:solidFill>
                <a:latin typeface="Arial" pitchFamily="34" charset="0"/>
                <a:ea typeface="Arial" pitchFamily="34" charset="-122"/>
                <a:cs typeface="Arial" pitchFamily="34" charset="-120"/>
              </a:rPr>
              <a:t>1</a:t>
            </a:r>
            <a:r>
              <a:rPr lang="en-US" sz="1100" dirty="0">
                <a:solidFill>
                  <a:schemeClr val="bg1"/>
                </a:solidFill>
                <a:latin typeface="Arial" pitchFamily="34" charset="0"/>
                <a:ea typeface="Arial" pitchFamily="34" charset="-122"/>
                <a:cs typeface="Arial" pitchFamily="34" charset="-120"/>
              </a:rPr>
              <a:t>.  Varun  24BCE1462                  3.  Anjum Sana 23MIA1028</a:t>
            </a:r>
            <a:endParaRPr lang="en-US" sz="1100" dirty="0">
              <a:solidFill>
                <a:schemeClr val="bg1"/>
              </a:solidFill>
            </a:endParaRPr>
          </a:p>
          <a:p>
            <a:pPr marL="0" indent="0">
              <a:buNone/>
            </a:pPr>
            <a:r>
              <a:rPr lang="en-US" sz="1100" dirty="0">
                <a:solidFill>
                  <a:schemeClr val="bg1"/>
                </a:solidFill>
                <a:latin typeface="Arial" pitchFamily="34" charset="0"/>
                <a:ea typeface="Arial" pitchFamily="34" charset="-122"/>
                <a:cs typeface="Arial" pitchFamily="34" charset="-120"/>
              </a:rPr>
              <a:t>2.  Varun V Krishna 24BCE1568  4.  Nadia </a:t>
            </a:r>
            <a:r>
              <a:rPr lang="en-US" sz="1100" dirty="0" err="1">
                <a:solidFill>
                  <a:schemeClr val="bg1"/>
                </a:solidFill>
                <a:latin typeface="Arial" pitchFamily="34" charset="0"/>
                <a:ea typeface="Arial" pitchFamily="34" charset="-122"/>
                <a:cs typeface="Arial" pitchFamily="34" charset="-120"/>
              </a:rPr>
              <a:t>Naureen</a:t>
            </a:r>
            <a:r>
              <a:rPr lang="en-US" sz="1100" dirty="0">
                <a:solidFill>
                  <a:schemeClr val="bg1"/>
                </a:solidFill>
                <a:latin typeface="Arial" pitchFamily="34" charset="0"/>
                <a:ea typeface="Arial" pitchFamily="34" charset="-122"/>
                <a:cs typeface="Arial" pitchFamily="34" charset="-120"/>
              </a:rPr>
              <a:t> 23MIA1074</a:t>
            </a:r>
            <a:endParaRPr lang="en-US" sz="1100" dirty="0">
              <a:solidFill>
                <a:schemeClr val="bg1"/>
              </a:solidFill>
            </a:endParaRPr>
          </a:p>
        </p:txBody>
      </p:sp>
      <p:sp>
        <p:nvSpPr>
          <p:cNvPr id="89" name="Text 87"/>
          <p:cNvSpPr/>
          <p:nvPr/>
        </p:nvSpPr>
        <p:spPr>
          <a:xfrm>
            <a:off x="566928" y="6217920"/>
            <a:ext cx="6400800" cy="274320"/>
          </a:xfrm>
          <a:prstGeom prst="rect">
            <a:avLst/>
          </a:prstGeom>
          <a:noFill/>
          <a:ln/>
        </p:spPr>
        <p:txBody>
          <a:bodyPr wrap="square" lIns="0" tIns="0" rIns="0" bIns="0" rtlCol="0" anchor="ctr"/>
          <a:lstStyle/>
          <a:p>
            <a:pPr marL="0" indent="0">
              <a:buNone/>
            </a:pPr>
            <a:r>
              <a:rPr lang="en-US" sz="850" kern="0" spc="100" dirty="0">
                <a:solidFill>
                  <a:srgbClr val="9AA3AE"/>
                </a:solidFill>
                <a:latin typeface="Consolas" pitchFamily="34" charset="0"/>
                <a:ea typeface="Consolas" pitchFamily="34" charset="-122"/>
                <a:cs typeface="Consolas" pitchFamily="34" charset="-120"/>
              </a:rPr>
              <a:t>NETAJI AUDITORIUM · AB-1 · VIT CHENNAI</a:t>
            </a:r>
            <a:endParaRPr lang="en-US" sz="850" dirty="0"/>
          </a:p>
        </p:txBody>
      </p:sp>
      <p:sp>
        <p:nvSpPr>
          <p:cNvPr id="90" name="Text 88"/>
          <p:cNvSpPr/>
          <p:nvPr/>
        </p:nvSpPr>
        <p:spPr>
          <a:xfrm>
            <a:off x="8229600" y="6217920"/>
            <a:ext cx="3108960" cy="274320"/>
          </a:xfrm>
          <a:prstGeom prst="rect">
            <a:avLst/>
          </a:prstGeom>
          <a:noFill/>
          <a:ln/>
        </p:spPr>
        <p:txBody>
          <a:bodyPr wrap="square" lIns="0" tIns="0" rIns="0" bIns="0" rtlCol="0" anchor="ctr"/>
          <a:lstStyle/>
          <a:p>
            <a:pPr marL="0" indent="0" algn="r">
              <a:buNone/>
            </a:pPr>
            <a:r>
              <a:rPr lang="en-US" sz="850" b="1" kern="0" spc="100" dirty="0">
                <a:solidFill>
                  <a:srgbClr val="FF9900"/>
                </a:solidFill>
                <a:latin typeface="Consolas" pitchFamily="34" charset="0"/>
                <a:ea typeface="Consolas" pitchFamily="34" charset="-122"/>
                <a:cs typeface="Consolas" pitchFamily="34" charset="-120"/>
              </a:rPr>
              <a:t>JULY 30 &amp; 31</a:t>
            </a:r>
            <a:endParaRPr lang="en-US" sz="850" dirty="0"/>
          </a:p>
        </p:txBody>
      </p:sp>
      <p:sp>
        <p:nvSpPr>
          <p:cNvPr id="91" name="Shape 89"/>
          <p:cNvSpPr/>
          <p:nvPr/>
        </p:nvSpPr>
        <p:spPr>
          <a:xfrm>
            <a:off x="11722608" y="6263640"/>
            <a:ext cx="173736" cy="173736"/>
          </a:xfrm>
          <a:prstGeom prst="rect">
            <a:avLst/>
          </a:prstGeom>
          <a:solidFill>
            <a:srgbClr val="7C4DE8"/>
          </a:solidFill>
          <a:ln/>
        </p:spPr>
        <p:txBody>
          <a:bodyPr/>
          <a:lstStyle/>
          <a:p>
            <a:endParaRPr lang="en-IN"/>
          </a:p>
        </p:txBody>
      </p:sp>
      <p:sp>
        <p:nvSpPr>
          <p:cNvPr id="92" name="Shape 90"/>
          <p:cNvSpPr/>
          <p:nvPr/>
        </p:nvSpPr>
        <p:spPr>
          <a:xfrm>
            <a:off x="11769517" y="6310549"/>
            <a:ext cx="79919" cy="79919"/>
          </a:xfrm>
          <a:prstGeom prst="rect">
            <a:avLst/>
          </a:prstGeom>
          <a:solidFill>
            <a:srgbClr val="0E141B"/>
          </a:solidFill>
          <a:ln/>
        </p:spPr>
        <p:txBody>
          <a:bodyPr/>
          <a:lstStyle/>
          <a:p>
            <a:endParaRPr lang="en-IN"/>
          </a:p>
        </p:txBody>
      </p:sp>
      <p:sp>
        <p:nvSpPr>
          <p:cNvPr id="93" name="Shape 91"/>
          <p:cNvSpPr/>
          <p:nvPr/>
        </p:nvSpPr>
        <p:spPr>
          <a:xfrm>
            <a:off x="11752143" y="6228893"/>
            <a:ext cx="29535" cy="34747"/>
          </a:xfrm>
          <a:prstGeom prst="rect">
            <a:avLst/>
          </a:prstGeom>
          <a:solidFill>
            <a:srgbClr val="7C4DE8"/>
          </a:solidFill>
          <a:ln/>
        </p:spPr>
        <p:txBody>
          <a:bodyPr/>
          <a:lstStyle/>
          <a:p>
            <a:endParaRPr lang="en-IN"/>
          </a:p>
        </p:txBody>
      </p:sp>
      <p:sp>
        <p:nvSpPr>
          <p:cNvPr id="94" name="Shape 92"/>
          <p:cNvSpPr/>
          <p:nvPr/>
        </p:nvSpPr>
        <p:spPr>
          <a:xfrm>
            <a:off x="11752143" y="6437376"/>
            <a:ext cx="29535" cy="34747"/>
          </a:xfrm>
          <a:prstGeom prst="rect">
            <a:avLst/>
          </a:prstGeom>
          <a:solidFill>
            <a:srgbClr val="7C4DE8"/>
          </a:solidFill>
          <a:ln/>
        </p:spPr>
        <p:txBody>
          <a:bodyPr/>
          <a:lstStyle/>
          <a:p>
            <a:endParaRPr lang="en-IN"/>
          </a:p>
        </p:txBody>
      </p:sp>
      <p:sp>
        <p:nvSpPr>
          <p:cNvPr id="95" name="Shape 93"/>
          <p:cNvSpPr/>
          <p:nvPr/>
        </p:nvSpPr>
        <p:spPr>
          <a:xfrm>
            <a:off x="11687861" y="6293175"/>
            <a:ext cx="34747" cy="29535"/>
          </a:xfrm>
          <a:prstGeom prst="rect">
            <a:avLst/>
          </a:prstGeom>
          <a:solidFill>
            <a:srgbClr val="7C4DE8"/>
          </a:solidFill>
          <a:ln/>
        </p:spPr>
        <p:txBody>
          <a:bodyPr/>
          <a:lstStyle/>
          <a:p>
            <a:endParaRPr lang="en-IN"/>
          </a:p>
        </p:txBody>
      </p:sp>
      <p:sp>
        <p:nvSpPr>
          <p:cNvPr id="96" name="Shape 94"/>
          <p:cNvSpPr/>
          <p:nvPr/>
        </p:nvSpPr>
        <p:spPr>
          <a:xfrm>
            <a:off x="11896344" y="6293175"/>
            <a:ext cx="34747" cy="29535"/>
          </a:xfrm>
          <a:prstGeom prst="rect">
            <a:avLst/>
          </a:prstGeom>
          <a:solidFill>
            <a:srgbClr val="7C4DE8"/>
          </a:solidFill>
          <a:ln/>
        </p:spPr>
        <p:txBody>
          <a:bodyPr/>
          <a:lstStyle/>
          <a:p>
            <a:endParaRPr lang="en-IN"/>
          </a:p>
        </p:txBody>
      </p:sp>
      <p:sp>
        <p:nvSpPr>
          <p:cNvPr id="97" name="Shape 95"/>
          <p:cNvSpPr/>
          <p:nvPr/>
        </p:nvSpPr>
        <p:spPr>
          <a:xfrm>
            <a:off x="11837274" y="6228893"/>
            <a:ext cx="29535" cy="34747"/>
          </a:xfrm>
          <a:prstGeom prst="rect">
            <a:avLst/>
          </a:prstGeom>
          <a:solidFill>
            <a:srgbClr val="7C4DE8"/>
          </a:solidFill>
          <a:ln/>
        </p:spPr>
        <p:txBody>
          <a:bodyPr/>
          <a:lstStyle/>
          <a:p>
            <a:endParaRPr lang="en-IN"/>
          </a:p>
        </p:txBody>
      </p:sp>
      <p:sp>
        <p:nvSpPr>
          <p:cNvPr id="98" name="Shape 96"/>
          <p:cNvSpPr/>
          <p:nvPr/>
        </p:nvSpPr>
        <p:spPr>
          <a:xfrm>
            <a:off x="11837274" y="6437376"/>
            <a:ext cx="29535" cy="34747"/>
          </a:xfrm>
          <a:prstGeom prst="rect">
            <a:avLst/>
          </a:prstGeom>
          <a:solidFill>
            <a:srgbClr val="7C4DE8"/>
          </a:solidFill>
          <a:ln/>
        </p:spPr>
        <p:txBody>
          <a:bodyPr/>
          <a:lstStyle/>
          <a:p>
            <a:endParaRPr lang="en-IN"/>
          </a:p>
        </p:txBody>
      </p:sp>
      <p:sp>
        <p:nvSpPr>
          <p:cNvPr id="99" name="Shape 97"/>
          <p:cNvSpPr/>
          <p:nvPr/>
        </p:nvSpPr>
        <p:spPr>
          <a:xfrm>
            <a:off x="11687861" y="6378306"/>
            <a:ext cx="34747" cy="29535"/>
          </a:xfrm>
          <a:prstGeom prst="rect">
            <a:avLst/>
          </a:prstGeom>
          <a:solidFill>
            <a:srgbClr val="7C4DE8"/>
          </a:solidFill>
          <a:ln/>
        </p:spPr>
        <p:txBody>
          <a:bodyPr/>
          <a:lstStyle/>
          <a:p>
            <a:endParaRPr lang="en-IN"/>
          </a:p>
        </p:txBody>
      </p:sp>
      <p:sp>
        <p:nvSpPr>
          <p:cNvPr id="100" name="Shape 98"/>
          <p:cNvSpPr/>
          <p:nvPr/>
        </p:nvSpPr>
        <p:spPr>
          <a:xfrm>
            <a:off x="11896344" y="6378306"/>
            <a:ext cx="34747" cy="29535"/>
          </a:xfrm>
          <a:prstGeom prst="rect">
            <a:avLst/>
          </a:prstGeom>
          <a:solidFill>
            <a:srgbClr val="7C4DE8"/>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02</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THE PROBLEM</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what is broken today</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What problem are you solving?</a:t>
            </a:r>
            <a:endParaRPr lang="en-US" sz="2100" dirty="0"/>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r>
              <a:rPr lang="en-US" sz="1300" i="0" dirty="0">
                <a:solidFill>
                  <a:srgbClr val="0E141B"/>
                </a:solidFill>
                <a:latin typeface="Arial" pitchFamily="34" charset="0"/>
                <a:ea typeface="Arial" pitchFamily="34" charset="-122"/>
                <a:cs typeface="Arial" pitchFamily="34" charset="-120"/>
              </a:rPr>
              <a:t>People, especially teenagers, in crisis search for help long before they tell anyone. A 2021 hospital study found 63% of young people admitted for suicidal thoughts had made suicide-related searches in the prior three months, yet only 30–50% of people with suicidal thoughts ever reach a doctor or therapist. Today that signal is either ignored, sent to a search engine's own servers to trigger a generic hotline banner in some cases, or completely getting ignored. If they don’t know what they are undergoing, they would not know what they should do. </a:t>
            </a: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Who feels this pain, and how often</a:t>
            </a:r>
            <a:endParaRPr lang="en-US" sz="1100" dirty="0"/>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How it is handled today</a:t>
            </a:r>
            <a:endParaRPr lang="en-US" sz="1100" dirty="0"/>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Why that falls short</a:t>
            </a:r>
            <a:endParaRPr lang="en-US" sz="1100" dirty="0"/>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Evidence the problem is real</a:t>
            </a: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02</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03</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OUR SOLUTION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what we are building</a:t>
            </a:r>
            <a:endParaRPr lang="en-US" sz="1100" dirty="0"/>
          </a:p>
        </p:txBody>
      </p:sp>
      <p:sp>
        <p:nvSpPr>
          <p:cNvPr id="18" name="Text 16"/>
          <p:cNvSpPr/>
          <p:nvPr/>
        </p:nvSpPr>
        <p:spPr>
          <a:xfrm>
            <a:off x="822960" y="2103120"/>
            <a:ext cx="5111496"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What are you building?</a:t>
            </a:r>
            <a:endParaRPr lang="en-US" sz="1800" dirty="0"/>
          </a:p>
        </p:txBody>
      </p:sp>
      <p:sp>
        <p:nvSpPr>
          <p:cNvPr id="19" name="Shape 17"/>
          <p:cNvSpPr/>
          <p:nvPr/>
        </p:nvSpPr>
        <p:spPr>
          <a:xfrm>
            <a:off x="822960" y="2889504"/>
            <a:ext cx="5111496"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889504"/>
            <a:ext cx="4818888" cy="2121408"/>
          </a:xfrm>
          <a:prstGeom prst="rect">
            <a:avLst/>
          </a:prstGeom>
          <a:noFill/>
          <a:ln/>
        </p:spPr>
        <p:txBody>
          <a:bodyPr wrap="square" lIns="762" tIns="762" rIns="762" bIns="762" rtlCol="0" anchor="t"/>
          <a:lstStyle/>
          <a:p>
            <a:pPr marL="0" indent="0">
              <a:buNone/>
            </a:pPr>
            <a:r>
              <a:rPr lang="en-US" sz="1300" i="0" dirty="0" err="1">
                <a:solidFill>
                  <a:srgbClr val="0E141B"/>
                </a:solidFill>
                <a:latin typeface="Arial" pitchFamily="34" charset="0"/>
                <a:ea typeface="Arial" pitchFamily="34" charset="-122"/>
                <a:cs typeface="Arial" pitchFamily="34" charset="-120"/>
              </a:rPr>
              <a:t>HeADGate</a:t>
            </a:r>
            <a:r>
              <a:rPr lang="en-US" sz="1300" i="0" dirty="0">
                <a:solidFill>
                  <a:srgbClr val="0E141B"/>
                </a:solidFill>
                <a:latin typeface="Arial" pitchFamily="34" charset="0"/>
                <a:ea typeface="Arial" pitchFamily="34" charset="-122"/>
                <a:cs typeface="Arial" pitchFamily="34" charset="-120"/>
              </a:rPr>
              <a:t> is a lightweight agent that runs entirely on a the local A distilled 22M-parameter model classifies the risk signal in real time, then routes the result to a proportionate response: quiet logging, gentle self-care resources, or a direct path to crisis support  it never tries to counsel the person itself.</a:t>
            </a:r>
            <a:endParaRPr lang="en-US" sz="1100" dirty="0"/>
          </a:p>
        </p:txBody>
      </p:sp>
      <p:sp>
        <p:nvSpPr>
          <p:cNvPr id="21" name="Text 19"/>
          <p:cNvSpPr/>
          <p:nvPr/>
        </p:nvSpPr>
        <p:spPr>
          <a:xfrm>
            <a:off x="6254496" y="2103120"/>
            <a:ext cx="5111496"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How does it solve that problem?</a:t>
            </a:r>
            <a:endParaRPr lang="en-US" sz="1800" dirty="0"/>
          </a:p>
        </p:txBody>
      </p:sp>
      <p:sp>
        <p:nvSpPr>
          <p:cNvPr id="22" name="Shape 20"/>
          <p:cNvSpPr/>
          <p:nvPr/>
        </p:nvSpPr>
        <p:spPr>
          <a:xfrm>
            <a:off x="6254496" y="2889504"/>
            <a:ext cx="5111496"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3" name="Text 21"/>
          <p:cNvSpPr/>
          <p:nvPr/>
        </p:nvSpPr>
        <p:spPr>
          <a:xfrm>
            <a:off x="6400800" y="2889504"/>
            <a:ext cx="4818888" cy="2121408"/>
          </a:xfrm>
          <a:prstGeom prst="rect">
            <a:avLst/>
          </a:prstGeom>
          <a:noFill/>
          <a:ln/>
        </p:spPr>
        <p:txBody>
          <a:bodyPr wrap="square" lIns="762" tIns="762" rIns="762" bIns="762" rtlCol="0" anchor="t"/>
          <a:lstStyle/>
          <a:p>
            <a:pPr marL="0" indent="0">
              <a:buNone/>
            </a:pPr>
            <a:r>
              <a:rPr lang="en-US" sz="1300" i="0" dirty="0">
                <a:solidFill>
                  <a:srgbClr val="0E141B"/>
                </a:solidFill>
                <a:latin typeface="Arial" pitchFamily="34" charset="0"/>
                <a:ea typeface="Arial" pitchFamily="34" charset="-122"/>
                <a:cs typeface="Arial" pitchFamily="34" charset="-120"/>
              </a:rPr>
              <a:t>It closes the gap between reaching for a search bar and reaching a real person. Classification happens on-device on submitted queries only no cloud call, no keyword blacklist, no continuous surveillance the exact privacy and false-positive problems that get today's tools disabled. It catches phrasing a keyword filter would miss, like “I feel hopeless,” without ever sending those words anywhere.</a:t>
            </a:r>
            <a:endParaRPr lang="en-US" sz="1100" dirty="0"/>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5" name="Shape 23"/>
          <p:cNvSpPr/>
          <p:nvPr/>
        </p:nvSpPr>
        <p:spPr>
          <a:xfrm>
            <a:off x="822960" y="5596128"/>
            <a:ext cx="91440" cy="91440"/>
          </a:xfrm>
          <a:prstGeom prst="rect">
            <a:avLst/>
          </a:prstGeom>
          <a:solidFill>
            <a:srgbClr val="7C4DE8"/>
          </a:solidFill>
          <a:ln/>
        </p:spPr>
        <p:txBody>
          <a:bodyPr/>
          <a:lstStyle/>
          <a:p>
            <a:endParaRPr lang="en-IN"/>
          </a:p>
        </p:txBody>
      </p:sp>
      <p:sp>
        <p:nvSpPr>
          <p:cNvPr id="26" name="Text 24"/>
          <p:cNvSpPr/>
          <p:nvPr/>
        </p:nvSpPr>
        <p:spPr>
          <a:xfrm>
            <a:off x="1042416" y="5522976"/>
            <a:ext cx="3112008"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a user actually does with it</a:t>
            </a:r>
            <a:endParaRPr lang="en-US" sz="1100" dirty="0"/>
          </a:p>
        </p:txBody>
      </p:sp>
      <p:sp>
        <p:nvSpPr>
          <p:cNvPr id="27" name="Shape 25"/>
          <p:cNvSpPr/>
          <p:nvPr/>
        </p:nvSpPr>
        <p:spPr>
          <a:xfrm>
            <a:off x="4428744" y="5596128"/>
            <a:ext cx="91440" cy="91440"/>
          </a:xfrm>
          <a:prstGeom prst="rect">
            <a:avLst/>
          </a:prstGeom>
          <a:solidFill>
            <a:srgbClr val="7C4DE8"/>
          </a:solidFill>
          <a:ln/>
        </p:spPr>
        <p:txBody>
          <a:bodyPr/>
          <a:lstStyle/>
          <a:p>
            <a:endParaRPr lang="en-IN"/>
          </a:p>
        </p:txBody>
      </p:sp>
      <p:sp>
        <p:nvSpPr>
          <p:cNvPr id="28" name="Text 26"/>
          <p:cNvSpPr/>
          <p:nvPr/>
        </p:nvSpPr>
        <p:spPr>
          <a:xfrm>
            <a:off x="4648200" y="5522976"/>
            <a:ext cx="3112008"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Why it beats the current workaround</a:t>
            </a:r>
            <a:endParaRPr lang="en-US" sz="1100" dirty="0"/>
          </a:p>
        </p:txBody>
      </p:sp>
      <p:sp>
        <p:nvSpPr>
          <p:cNvPr id="29" name="Shape 27"/>
          <p:cNvSpPr/>
          <p:nvPr/>
        </p:nvSpPr>
        <p:spPr>
          <a:xfrm>
            <a:off x="8034528" y="5596128"/>
            <a:ext cx="91440" cy="91440"/>
          </a:xfrm>
          <a:prstGeom prst="rect">
            <a:avLst/>
          </a:prstGeom>
          <a:solidFill>
            <a:srgbClr val="7C4DE8"/>
          </a:solidFill>
          <a:ln/>
        </p:spPr>
        <p:txBody>
          <a:bodyPr/>
          <a:lstStyle/>
          <a:p>
            <a:endParaRPr lang="en-IN"/>
          </a:p>
        </p:txBody>
      </p:sp>
      <p:sp>
        <p:nvSpPr>
          <p:cNvPr id="30" name="Text 28"/>
          <p:cNvSpPr/>
          <p:nvPr/>
        </p:nvSpPr>
        <p:spPr>
          <a:xfrm>
            <a:off x="8253984" y="5522976"/>
            <a:ext cx="3112008"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is genuinely different about your approach</a:t>
            </a:r>
            <a:endParaRPr lang="en-US" sz="1100" dirty="0"/>
          </a:p>
        </p:txBody>
      </p:sp>
      <p:sp>
        <p:nvSpPr>
          <p:cNvPr id="31" name="Text 29"/>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2" name="Text 30"/>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03</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3" name="Shape 31"/>
          <p:cNvSpPr/>
          <p:nvPr/>
        </p:nvSpPr>
        <p:spPr>
          <a:xfrm>
            <a:off x="11722608" y="6391656"/>
            <a:ext cx="173736" cy="173736"/>
          </a:xfrm>
          <a:prstGeom prst="rect">
            <a:avLst/>
          </a:prstGeom>
          <a:solidFill>
            <a:srgbClr val="7C4DE8"/>
          </a:solidFill>
          <a:ln/>
        </p:spPr>
        <p:txBody>
          <a:bodyPr/>
          <a:lstStyle/>
          <a:p>
            <a:endParaRPr lang="en-IN"/>
          </a:p>
        </p:txBody>
      </p:sp>
      <p:sp>
        <p:nvSpPr>
          <p:cNvPr id="34" name="Shape 32"/>
          <p:cNvSpPr/>
          <p:nvPr/>
        </p:nvSpPr>
        <p:spPr>
          <a:xfrm>
            <a:off x="11769517" y="6438565"/>
            <a:ext cx="79919" cy="79919"/>
          </a:xfrm>
          <a:prstGeom prst="rect">
            <a:avLst/>
          </a:prstGeom>
          <a:solidFill>
            <a:srgbClr val="FFFFFF"/>
          </a:solidFill>
          <a:ln/>
        </p:spPr>
        <p:txBody>
          <a:bodyPr/>
          <a:lstStyle/>
          <a:p>
            <a:endParaRPr lang="en-IN"/>
          </a:p>
        </p:txBody>
      </p:sp>
      <p:sp>
        <p:nvSpPr>
          <p:cNvPr id="35" name="Shape 33"/>
          <p:cNvSpPr/>
          <p:nvPr/>
        </p:nvSpPr>
        <p:spPr>
          <a:xfrm>
            <a:off x="11752143" y="6356909"/>
            <a:ext cx="29535" cy="34747"/>
          </a:xfrm>
          <a:prstGeom prst="rect">
            <a:avLst/>
          </a:prstGeom>
          <a:solidFill>
            <a:srgbClr val="7C4DE8"/>
          </a:solidFill>
          <a:ln/>
        </p:spPr>
        <p:txBody>
          <a:bodyPr/>
          <a:lstStyle/>
          <a:p>
            <a:endParaRPr lang="en-IN"/>
          </a:p>
        </p:txBody>
      </p:sp>
      <p:sp>
        <p:nvSpPr>
          <p:cNvPr id="36" name="Shape 34"/>
          <p:cNvSpPr/>
          <p:nvPr/>
        </p:nvSpPr>
        <p:spPr>
          <a:xfrm>
            <a:off x="11752143" y="6565392"/>
            <a:ext cx="29535" cy="34747"/>
          </a:xfrm>
          <a:prstGeom prst="rect">
            <a:avLst/>
          </a:prstGeom>
          <a:solidFill>
            <a:srgbClr val="7C4DE8"/>
          </a:solidFill>
          <a:ln/>
        </p:spPr>
        <p:txBody>
          <a:bodyPr/>
          <a:lstStyle/>
          <a:p>
            <a:endParaRPr lang="en-IN"/>
          </a:p>
        </p:txBody>
      </p:sp>
      <p:sp>
        <p:nvSpPr>
          <p:cNvPr id="37" name="Shape 35"/>
          <p:cNvSpPr/>
          <p:nvPr/>
        </p:nvSpPr>
        <p:spPr>
          <a:xfrm>
            <a:off x="11687861" y="6421191"/>
            <a:ext cx="34747" cy="29535"/>
          </a:xfrm>
          <a:prstGeom prst="rect">
            <a:avLst/>
          </a:prstGeom>
          <a:solidFill>
            <a:srgbClr val="7C4DE8"/>
          </a:solidFill>
          <a:ln/>
        </p:spPr>
        <p:txBody>
          <a:bodyPr/>
          <a:lstStyle/>
          <a:p>
            <a:endParaRPr lang="en-IN"/>
          </a:p>
        </p:txBody>
      </p:sp>
      <p:sp>
        <p:nvSpPr>
          <p:cNvPr id="38" name="Shape 36"/>
          <p:cNvSpPr/>
          <p:nvPr/>
        </p:nvSpPr>
        <p:spPr>
          <a:xfrm>
            <a:off x="11896344" y="6421191"/>
            <a:ext cx="34747" cy="29535"/>
          </a:xfrm>
          <a:prstGeom prst="rect">
            <a:avLst/>
          </a:prstGeom>
          <a:solidFill>
            <a:srgbClr val="7C4DE8"/>
          </a:solidFill>
          <a:ln/>
        </p:spPr>
        <p:txBody>
          <a:bodyPr/>
          <a:lstStyle/>
          <a:p>
            <a:endParaRPr lang="en-IN"/>
          </a:p>
        </p:txBody>
      </p:sp>
      <p:sp>
        <p:nvSpPr>
          <p:cNvPr id="39" name="Shape 37"/>
          <p:cNvSpPr/>
          <p:nvPr/>
        </p:nvSpPr>
        <p:spPr>
          <a:xfrm>
            <a:off x="11837274" y="6356909"/>
            <a:ext cx="29535" cy="34747"/>
          </a:xfrm>
          <a:prstGeom prst="rect">
            <a:avLst/>
          </a:prstGeom>
          <a:solidFill>
            <a:srgbClr val="7C4DE8"/>
          </a:solidFill>
          <a:ln/>
        </p:spPr>
        <p:txBody>
          <a:bodyPr/>
          <a:lstStyle/>
          <a:p>
            <a:endParaRPr lang="en-IN"/>
          </a:p>
        </p:txBody>
      </p:sp>
      <p:sp>
        <p:nvSpPr>
          <p:cNvPr id="40" name="Shape 38"/>
          <p:cNvSpPr/>
          <p:nvPr/>
        </p:nvSpPr>
        <p:spPr>
          <a:xfrm>
            <a:off x="11837274" y="6565392"/>
            <a:ext cx="29535" cy="34747"/>
          </a:xfrm>
          <a:prstGeom prst="rect">
            <a:avLst/>
          </a:prstGeom>
          <a:solidFill>
            <a:srgbClr val="7C4DE8"/>
          </a:solidFill>
          <a:ln/>
        </p:spPr>
        <p:txBody>
          <a:bodyPr/>
          <a:lstStyle/>
          <a:p>
            <a:endParaRPr lang="en-IN"/>
          </a:p>
        </p:txBody>
      </p:sp>
      <p:sp>
        <p:nvSpPr>
          <p:cNvPr id="41" name="Shape 39"/>
          <p:cNvSpPr/>
          <p:nvPr/>
        </p:nvSpPr>
        <p:spPr>
          <a:xfrm>
            <a:off x="11687861" y="6506322"/>
            <a:ext cx="34747" cy="29535"/>
          </a:xfrm>
          <a:prstGeom prst="rect">
            <a:avLst/>
          </a:prstGeom>
          <a:solidFill>
            <a:srgbClr val="7C4DE8"/>
          </a:solidFill>
          <a:ln/>
        </p:spPr>
        <p:txBody>
          <a:bodyPr/>
          <a:lstStyle/>
          <a:p>
            <a:endParaRPr lang="en-IN"/>
          </a:p>
        </p:txBody>
      </p:sp>
      <p:sp>
        <p:nvSpPr>
          <p:cNvPr id="42" name="Shape 40"/>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04</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HOW IT WORKS</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under the hood</a:t>
            </a:r>
            <a:endParaRPr lang="en-US" sz="1100" dirty="0"/>
          </a:p>
        </p:txBody>
      </p:sp>
      <p:sp>
        <p:nvSpPr>
          <p:cNvPr id="18" name="Text 16"/>
          <p:cNvSpPr/>
          <p:nvPr/>
        </p:nvSpPr>
        <p:spPr>
          <a:xfrm>
            <a:off x="822960" y="2103120"/>
            <a:ext cx="5486400"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How does it actually work?</a:t>
            </a:r>
            <a:endParaRPr lang="en-US" sz="1800" dirty="0"/>
          </a:p>
        </p:txBody>
      </p:sp>
      <p:sp>
        <p:nvSpPr>
          <p:cNvPr id="19" name="Shape 17"/>
          <p:cNvSpPr/>
          <p:nvPr/>
        </p:nvSpPr>
        <p:spPr>
          <a:xfrm>
            <a:off x="822960" y="2889504"/>
            <a:ext cx="5486400"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889504"/>
            <a:ext cx="5193792" cy="2121408"/>
          </a:xfrm>
          <a:prstGeom prst="rect">
            <a:avLst/>
          </a:prstGeom>
          <a:noFill/>
          <a:ln/>
        </p:spPr>
        <p:txBody>
          <a:bodyPr wrap="square" lIns="762" tIns="762" rIns="762" bIns="762" rtlCol="0" anchor="t"/>
          <a:lstStyle/>
          <a:p>
            <a:pPr marL="0" indent="0">
              <a:buNone/>
            </a:pPr>
            <a:r>
              <a:rPr lang="en-US" sz="1200" i="0" dirty="0">
                <a:solidFill>
                  <a:srgbClr val="0E141B"/>
                </a:solidFill>
                <a:latin typeface="Arial" pitchFamily="34" charset="0"/>
                <a:ea typeface="Arial" pitchFamily="34" charset="-122"/>
                <a:cs typeface="Arial" pitchFamily="34" charset="-120"/>
              </a:rPr>
              <a:t>A search is submitted → debounce/de-dupe → the on-device classifier (MiniLM-L6, distilled from Qwen2.5-7B-Instruct via a 5-level clinical rubric) scores risk 0–4 → the result maps to an action tier → the agent logs to a local dashboard and, at higher risk, surfaces real crisis resources → the model unloads after an idle timeout to classify</a:t>
            </a:r>
            <a:r>
              <a:rPr lang="en-US" sz="1200" i="0" dirty="0">
                <a:latin typeface="Arial" pitchFamily="34" charset="0"/>
                <a:ea typeface="Arial" pitchFamily="34" charset="-122"/>
                <a:cs typeface="Arial" pitchFamily="34" charset="-120"/>
              </a:rPr>
              <a:t>.</a:t>
            </a:r>
            <a:r>
              <a:rPr lang="en-US" sz="1100" i="1" dirty="0">
                <a:latin typeface="Arial" pitchFamily="34" charset="0"/>
                <a:ea typeface="Arial" pitchFamily="34" charset="-122"/>
                <a:cs typeface="Arial" pitchFamily="34" charset="-120"/>
              </a:rPr>
              <a:t> </a:t>
            </a:r>
            <a:r>
              <a:rPr lang="en-US" sz="1100" dirty="0">
                <a:latin typeface="Arial" pitchFamily="34" charset="0"/>
                <a:ea typeface="Arial" pitchFamily="34" charset="-122"/>
                <a:cs typeface="Arial" pitchFamily="34" charset="-120"/>
              </a:rPr>
              <a:t>A search query is classified the moment it's submitted. Inference runs in under 50ms entirely on-device, so no query ever leaves the household. A flagged result triggers a lookup against a static resource knowledge base, which notifies a parent never a generated response</a:t>
            </a:r>
            <a:endParaRPr lang="en-US" sz="1100" dirty="0"/>
          </a:p>
        </p:txBody>
      </p:sp>
      <p:sp>
        <p:nvSpPr>
          <p:cNvPr id="21" name="Shape 19"/>
          <p:cNvSpPr/>
          <p:nvPr/>
        </p:nvSpPr>
        <p:spPr>
          <a:xfrm>
            <a:off x="6629400" y="2103120"/>
            <a:ext cx="4736592" cy="2907792"/>
          </a:xfrm>
          <a:prstGeom prst="roundRect">
            <a:avLst>
              <a:gd name="adj" fmla="val 629"/>
            </a:avLst>
          </a:prstGeom>
          <a:solidFill>
            <a:srgbClr val="FAFBFC"/>
          </a:solidFill>
          <a:ln w="12700">
            <a:solidFill>
              <a:srgbClr val="7C4DE8"/>
            </a:solidFill>
            <a:prstDash val="dash"/>
          </a:ln>
        </p:spPr>
        <p:txBody>
          <a:bodyPr/>
          <a:lstStyle/>
          <a:p>
            <a:endParaRPr lang="en-IN"/>
          </a:p>
        </p:txBody>
      </p:sp>
      <p:sp>
        <p:nvSpPr>
          <p:cNvPr id="22" name="Text 20"/>
          <p:cNvSpPr/>
          <p:nvPr/>
        </p:nvSpPr>
        <p:spPr>
          <a:xfrm>
            <a:off x="6629400" y="2240280"/>
            <a:ext cx="4736592" cy="274320"/>
          </a:xfrm>
          <a:prstGeom prst="rect">
            <a:avLst/>
          </a:prstGeom>
          <a:noFill/>
          <a:ln/>
        </p:spPr>
        <p:txBody>
          <a:bodyPr wrap="square" lIns="0" tIns="0" rIns="0" bIns="0" rtlCol="0" anchor="ctr"/>
          <a:lstStyle/>
          <a:p>
            <a:pPr marL="0" indent="0" algn="ctr">
              <a:buNone/>
            </a:pPr>
            <a:r>
              <a:rPr lang="en-US" sz="1100" b="1" kern="0" spc="120" dirty="0">
                <a:solidFill>
                  <a:srgbClr val="7C4DE8"/>
                </a:solidFill>
                <a:latin typeface="Consolas" pitchFamily="34" charset="0"/>
                <a:ea typeface="Consolas" pitchFamily="34" charset="-122"/>
                <a:cs typeface="Consolas" pitchFamily="34" charset="-120"/>
              </a:rPr>
              <a:t>ON-DEVICE PIPELINE · 0 CLOUD CALLS</a:t>
            </a:r>
            <a:endParaRPr lang="en-US" sz="1100" dirty="0"/>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5" name="Shape 23"/>
          <p:cNvSpPr/>
          <p:nvPr/>
        </p:nvSpPr>
        <p:spPr>
          <a:xfrm>
            <a:off x="822960" y="5596128"/>
            <a:ext cx="91440" cy="91440"/>
          </a:xfrm>
          <a:prstGeom prst="rect">
            <a:avLst/>
          </a:prstGeom>
          <a:solidFill>
            <a:srgbClr val="7C4DE8"/>
          </a:solidFill>
          <a:ln/>
        </p:spPr>
        <p:txBody>
          <a:bodyPr/>
          <a:lstStyle/>
          <a:p>
            <a:endParaRPr lang="en-IN"/>
          </a:p>
        </p:txBody>
      </p:sp>
      <p:sp>
        <p:nvSpPr>
          <p:cNvPr id="26" name="Text 24"/>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Models, frameworks and AWS services</a:t>
            </a:r>
            <a:endParaRPr lang="en-US" sz="1100" dirty="0"/>
          </a:p>
        </p:txBody>
      </p:sp>
      <p:sp>
        <p:nvSpPr>
          <p:cNvPr id="27" name="Shape 25"/>
          <p:cNvSpPr/>
          <p:nvPr/>
        </p:nvSpPr>
        <p:spPr>
          <a:xfrm>
            <a:off x="3527298" y="5596128"/>
            <a:ext cx="91440" cy="91440"/>
          </a:xfrm>
          <a:prstGeom prst="rect">
            <a:avLst/>
          </a:prstGeom>
          <a:solidFill>
            <a:srgbClr val="7C4DE8"/>
          </a:solidFill>
          <a:ln/>
        </p:spPr>
        <p:txBody>
          <a:bodyPr/>
          <a:lstStyle/>
          <a:p>
            <a:endParaRPr lang="en-IN"/>
          </a:p>
        </p:txBody>
      </p:sp>
      <p:sp>
        <p:nvSpPr>
          <p:cNvPr id="28" name="Text 26"/>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Your key technical decision, and why</a:t>
            </a:r>
            <a:endParaRPr lang="en-US" sz="1100" dirty="0"/>
          </a:p>
        </p:txBody>
      </p:sp>
      <p:sp>
        <p:nvSpPr>
          <p:cNvPr id="29" name="Shape 27"/>
          <p:cNvSpPr/>
          <p:nvPr/>
        </p:nvSpPr>
        <p:spPr>
          <a:xfrm>
            <a:off x="6231636" y="5596128"/>
            <a:ext cx="91440" cy="91440"/>
          </a:xfrm>
          <a:prstGeom prst="rect">
            <a:avLst/>
          </a:prstGeom>
          <a:solidFill>
            <a:srgbClr val="7C4DE8"/>
          </a:solidFill>
          <a:ln/>
        </p:spPr>
        <p:txBody>
          <a:bodyPr/>
          <a:lstStyle/>
          <a:p>
            <a:endParaRPr lang="en-IN"/>
          </a:p>
        </p:txBody>
      </p:sp>
      <p:sp>
        <p:nvSpPr>
          <p:cNvPr id="30" name="Text 28"/>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The hardest part to build</a:t>
            </a:r>
            <a:endParaRPr lang="en-US" sz="1100" dirty="0"/>
          </a:p>
        </p:txBody>
      </p:sp>
      <p:sp>
        <p:nvSpPr>
          <p:cNvPr id="31" name="Shape 29"/>
          <p:cNvSpPr/>
          <p:nvPr/>
        </p:nvSpPr>
        <p:spPr>
          <a:xfrm>
            <a:off x="8935974" y="5596128"/>
            <a:ext cx="91440" cy="91440"/>
          </a:xfrm>
          <a:prstGeom prst="rect">
            <a:avLst/>
          </a:prstGeom>
          <a:solidFill>
            <a:srgbClr val="7C4DE8"/>
          </a:solidFill>
          <a:ln/>
        </p:spPr>
        <p:txBody>
          <a:bodyPr/>
          <a:lstStyle/>
          <a:p>
            <a:endParaRPr lang="en-IN"/>
          </a:p>
        </p:txBody>
      </p:sp>
      <p:sp>
        <p:nvSpPr>
          <p:cNvPr id="32" name="Text 30"/>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How you know it works: tests or evals</a:t>
            </a:r>
            <a:endParaRPr lang="en-US" sz="1100" dirty="0"/>
          </a:p>
        </p:txBody>
      </p:sp>
      <p:sp>
        <p:nvSpPr>
          <p:cNvPr id="33" name="Text 31"/>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4" name="Text 32"/>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04</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5" name="Shape 33"/>
          <p:cNvSpPr/>
          <p:nvPr/>
        </p:nvSpPr>
        <p:spPr>
          <a:xfrm>
            <a:off x="11722608" y="6391656"/>
            <a:ext cx="173736" cy="173736"/>
          </a:xfrm>
          <a:prstGeom prst="rect">
            <a:avLst/>
          </a:prstGeom>
          <a:solidFill>
            <a:srgbClr val="7C4DE8"/>
          </a:solidFill>
          <a:ln/>
        </p:spPr>
        <p:txBody>
          <a:bodyPr/>
          <a:lstStyle/>
          <a:p>
            <a:endParaRPr lang="en-IN"/>
          </a:p>
        </p:txBody>
      </p:sp>
      <p:sp>
        <p:nvSpPr>
          <p:cNvPr id="36" name="Shape 34"/>
          <p:cNvSpPr/>
          <p:nvPr/>
        </p:nvSpPr>
        <p:spPr>
          <a:xfrm>
            <a:off x="11769517" y="6438565"/>
            <a:ext cx="79919" cy="79919"/>
          </a:xfrm>
          <a:prstGeom prst="rect">
            <a:avLst/>
          </a:prstGeom>
          <a:solidFill>
            <a:srgbClr val="FFFFFF"/>
          </a:solidFill>
          <a:ln/>
        </p:spPr>
        <p:txBody>
          <a:bodyPr/>
          <a:lstStyle/>
          <a:p>
            <a:endParaRPr lang="en-IN"/>
          </a:p>
        </p:txBody>
      </p:sp>
      <p:sp>
        <p:nvSpPr>
          <p:cNvPr id="37" name="Shape 35"/>
          <p:cNvSpPr/>
          <p:nvPr/>
        </p:nvSpPr>
        <p:spPr>
          <a:xfrm>
            <a:off x="11752143" y="6356909"/>
            <a:ext cx="29535" cy="34747"/>
          </a:xfrm>
          <a:prstGeom prst="rect">
            <a:avLst/>
          </a:prstGeom>
          <a:solidFill>
            <a:srgbClr val="7C4DE8"/>
          </a:solidFill>
          <a:ln/>
        </p:spPr>
        <p:txBody>
          <a:bodyPr/>
          <a:lstStyle/>
          <a:p>
            <a:endParaRPr lang="en-IN"/>
          </a:p>
        </p:txBody>
      </p:sp>
      <p:sp>
        <p:nvSpPr>
          <p:cNvPr id="38" name="Shape 36"/>
          <p:cNvSpPr/>
          <p:nvPr/>
        </p:nvSpPr>
        <p:spPr>
          <a:xfrm>
            <a:off x="11752143" y="6565392"/>
            <a:ext cx="29535" cy="34747"/>
          </a:xfrm>
          <a:prstGeom prst="rect">
            <a:avLst/>
          </a:prstGeom>
          <a:solidFill>
            <a:srgbClr val="7C4DE8"/>
          </a:solidFill>
          <a:ln/>
        </p:spPr>
        <p:txBody>
          <a:bodyPr/>
          <a:lstStyle/>
          <a:p>
            <a:endParaRPr lang="en-IN"/>
          </a:p>
        </p:txBody>
      </p:sp>
      <p:sp>
        <p:nvSpPr>
          <p:cNvPr id="39" name="Shape 37"/>
          <p:cNvSpPr/>
          <p:nvPr/>
        </p:nvSpPr>
        <p:spPr>
          <a:xfrm>
            <a:off x="11687861" y="6421191"/>
            <a:ext cx="34747" cy="29535"/>
          </a:xfrm>
          <a:prstGeom prst="rect">
            <a:avLst/>
          </a:prstGeom>
          <a:solidFill>
            <a:srgbClr val="7C4DE8"/>
          </a:solidFill>
          <a:ln/>
        </p:spPr>
        <p:txBody>
          <a:bodyPr/>
          <a:lstStyle/>
          <a:p>
            <a:endParaRPr lang="en-IN"/>
          </a:p>
        </p:txBody>
      </p:sp>
      <p:sp>
        <p:nvSpPr>
          <p:cNvPr id="40" name="Shape 38"/>
          <p:cNvSpPr/>
          <p:nvPr/>
        </p:nvSpPr>
        <p:spPr>
          <a:xfrm>
            <a:off x="11896344" y="6421191"/>
            <a:ext cx="34747" cy="29535"/>
          </a:xfrm>
          <a:prstGeom prst="rect">
            <a:avLst/>
          </a:prstGeom>
          <a:solidFill>
            <a:srgbClr val="7C4DE8"/>
          </a:solidFill>
          <a:ln/>
        </p:spPr>
        <p:txBody>
          <a:bodyPr/>
          <a:lstStyle/>
          <a:p>
            <a:endParaRPr lang="en-IN"/>
          </a:p>
        </p:txBody>
      </p:sp>
      <p:sp>
        <p:nvSpPr>
          <p:cNvPr id="41" name="Shape 39"/>
          <p:cNvSpPr/>
          <p:nvPr/>
        </p:nvSpPr>
        <p:spPr>
          <a:xfrm>
            <a:off x="11837274" y="6356909"/>
            <a:ext cx="29535" cy="34747"/>
          </a:xfrm>
          <a:prstGeom prst="rect">
            <a:avLst/>
          </a:prstGeom>
          <a:solidFill>
            <a:srgbClr val="7C4DE8"/>
          </a:solidFill>
          <a:ln/>
        </p:spPr>
        <p:txBody>
          <a:bodyPr/>
          <a:lstStyle/>
          <a:p>
            <a:endParaRPr lang="en-IN"/>
          </a:p>
        </p:txBody>
      </p:sp>
      <p:sp>
        <p:nvSpPr>
          <p:cNvPr id="42" name="Shape 40"/>
          <p:cNvSpPr/>
          <p:nvPr/>
        </p:nvSpPr>
        <p:spPr>
          <a:xfrm>
            <a:off x="11837274" y="6565392"/>
            <a:ext cx="29535" cy="34747"/>
          </a:xfrm>
          <a:prstGeom prst="rect">
            <a:avLst/>
          </a:prstGeom>
          <a:solidFill>
            <a:srgbClr val="7C4DE8"/>
          </a:solidFill>
          <a:ln/>
        </p:spPr>
        <p:txBody>
          <a:bodyPr/>
          <a:lstStyle/>
          <a:p>
            <a:endParaRPr lang="en-IN"/>
          </a:p>
        </p:txBody>
      </p:sp>
      <p:sp>
        <p:nvSpPr>
          <p:cNvPr id="43" name="Shape 41"/>
          <p:cNvSpPr/>
          <p:nvPr/>
        </p:nvSpPr>
        <p:spPr>
          <a:xfrm>
            <a:off x="11687861" y="6506322"/>
            <a:ext cx="34747" cy="29535"/>
          </a:xfrm>
          <a:prstGeom prst="rect">
            <a:avLst/>
          </a:prstGeom>
          <a:solidFill>
            <a:srgbClr val="7C4DE8"/>
          </a:solidFill>
          <a:ln/>
        </p:spPr>
        <p:txBody>
          <a:bodyPr/>
          <a:lstStyle/>
          <a:p>
            <a:endParaRPr lang="en-IN"/>
          </a:p>
        </p:txBody>
      </p:sp>
      <p:sp>
        <p:nvSpPr>
          <p:cNvPr id="44" name="Shape 42"/>
          <p:cNvSpPr/>
          <p:nvPr/>
        </p:nvSpPr>
        <p:spPr>
          <a:xfrm>
            <a:off x="11896344" y="6506322"/>
            <a:ext cx="34747" cy="29535"/>
          </a:xfrm>
          <a:prstGeom prst="rect">
            <a:avLst/>
          </a:prstGeom>
          <a:solidFill>
            <a:srgbClr val="7C4DE8"/>
          </a:solidFill>
          <a:ln/>
        </p:spPr>
        <p:txBody>
          <a:bodyPr/>
          <a:lstStyle/>
          <a:p>
            <a:endParaRPr lang="en-IN"/>
          </a:p>
        </p:txBody>
      </p:sp>
      <p:sp>
        <p:nvSpPr>
          <p:cNvPr id="45" name="Rounded Rectangle 44"/>
          <p:cNvSpPr/>
          <p:nvPr/>
        </p:nvSpPr>
        <p:spPr>
          <a:xfrm>
            <a:off x="6766560" y="2606040"/>
            <a:ext cx="4462272" cy="320040"/>
          </a:xfrm>
          <a:prstGeom prst="roundRect">
            <a:avLst>
              <a:gd name="adj" fmla="val 25000"/>
            </a:avLst>
          </a:prstGeom>
          <a:solidFill>
            <a:srgbClr val="FFFFFF"/>
          </a:solidFill>
          <a:ln w="12700">
            <a:solidFill>
              <a:srgbClr val="7C4DE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0E141B"/>
                </a:solidFill>
                <a:latin typeface="Arial"/>
              </a:rPr>
              <a:t>Search submitted</a:t>
            </a:r>
          </a:p>
        </p:txBody>
      </p:sp>
      <p:sp>
        <p:nvSpPr>
          <p:cNvPr id="46" name="TextBox 45"/>
          <p:cNvSpPr txBox="1"/>
          <p:nvPr/>
        </p:nvSpPr>
        <p:spPr>
          <a:xfrm>
            <a:off x="8860536" y="2903220"/>
            <a:ext cx="274320" cy="137160"/>
          </a:xfrm>
          <a:prstGeom prst="rect">
            <a:avLst/>
          </a:prstGeom>
          <a:noFill/>
        </p:spPr>
        <p:txBody>
          <a:bodyPr wrap="none" lIns="0" tIns="0" rIns="0" bIns="0">
            <a:spAutoFit/>
          </a:bodyPr>
          <a:lstStyle/>
          <a:p>
            <a:pPr algn="ctr"/>
            <a:r>
              <a:rPr sz="1200" b="1">
                <a:solidFill>
                  <a:srgbClr val="7C4DE8"/>
                </a:solidFill>
              </a:rPr>
              <a:t>↓</a:t>
            </a:r>
          </a:p>
        </p:txBody>
      </p:sp>
      <p:sp>
        <p:nvSpPr>
          <p:cNvPr id="47" name="Rounded Rectangle 46"/>
          <p:cNvSpPr/>
          <p:nvPr/>
        </p:nvSpPr>
        <p:spPr>
          <a:xfrm>
            <a:off x="6766560" y="3017520"/>
            <a:ext cx="4462272" cy="320040"/>
          </a:xfrm>
          <a:prstGeom prst="roundRect">
            <a:avLst>
              <a:gd name="adj" fmla="val 25000"/>
            </a:avLst>
          </a:prstGeom>
          <a:solidFill>
            <a:srgbClr val="FFFFFF"/>
          </a:solidFill>
          <a:ln w="12700">
            <a:solidFill>
              <a:srgbClr val="7C4DE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1050" b="1" dirty="0">
                <a:solidFill>
                  <a:srgbClr val="0E141B"/>
                </a:solidFill>
                <a:latin typeface="Arial"/>
              </a:rPr>
              <a:t>ON Router- Gateway Classifier</a:t>
            </a:r>
            <a:endParaRPr sz="1050" b="1" dirty="0">
              <a:solidFill>
                <a:srgbClr val="0E141B"/>
              </a:solidFill>
              <a:latin typeface="Arial"/>
            </a:endParaRPr>
          </a:p>
        </p:txBody>
      </p:sp>
      <p:sp>
        <p:nvSpPr>
          <p:cNvPr id="48" name="TextBox 47"/>
          <p:cNvSpPr txBox="1"/>
          <p:nvPr/>
        </p:nvSpPr>
        <p:spPr>
          <a:xfrm>
            <a:off x="8860536" y="3314700"/>
            <a:ext cx="274320" cy="137160"/>
          </a:xfrm>
          <a:prstGeom prst="rect">
            <a:avLst/>
          </a:prstGeom>
          <a:noFill/>
        </p:spPr>
        <p:txBody>
          <a:bodyPr wrap="none" lIns="0" tIns="0" rIns="0" bIns="0">
            <a:spAutoFit/>
          </a:bodyPr>
          <a:lstStyle/>
          <a:p>
            <a:pPr algn="ctr"/>
            <a:r>
              <a:rPr sz="1200" b="1">
                <a:solidFill>
                  <a:srgbClr val="7C4DE8"/>
                </a:solidFill>
              </a:rPr>
              <a:t>↓</a:t>
            </a:r>
          </a:p>
        </p:txBody>
      </p:sp>
      <p:sp>
        <p:nvSpPr>
          <p:cNvPr id="49" name="Rounded Rectangle 48"/>
          <p:cNvSpPr/>
          <p:nvPr/>
        </p:nvSpPr>
        <p:spPr>
          <a:xfrm>
            <a:off x="6766560" y="3429000"/>
            <a:ext cx="4462272" cy="320040"/>
          </a:xfrm>
          <a:prstGeom prst="roundRect">
            <a:avLst>
              <a:gd name="adj" fmla="val 25000"/>
            </a:avLst>
          </a:prstGeom>
          <a:solidFill>
            <a:srgbClr val="FFFFFF"/>
          </a:solidFill>
          <a:ln w="12700">
            <a:solidFill>
              <a:srgbClr val="7C4DE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0E141B"/>
                </a:solidFill>
                <a:latin typeface="Arial"/>
              </a:rPr>
              <a:t>ONNX classifier loads (idle → active)</a:t>
            </a:r>
          </a:p>
        </p:txBody>
      </p:sp>
      <p:sp>
        <p:nvSpPr>
          <p:cNvPr id="50" name="TextBox 49"/>
          <p:cNvSpPr txBox="1"/>
          <p:nvPr/>
        </p:nvSpPr>
        <p:spPr>
          <a:xfrm>
            <a:off x="8860536" y="3726180"/>
            <a:ext cx="274320" cy="137160"/>
          </a:xfrm>
          <a:prstGeom prst="rect">
            <a:avLst/>
          </a:prstGeom>
          <a:noFill/>
        </p:spPr>
        <p:txBody>
          <a:bodyPr wrap="none" lIns="0" tIns="0" rIns="0" bIns="0">
            <a:spAutoFit/>
          </a:bodyPr>
          <a:lstStyle/>
          <a:p>
            <a:pPr algn="ctr"/>
            <a:r>
              <a:rPr sz="1200" b="1">
                <a:solidFill>
                  <a:srgbClr val="7C4DE8"/>
                </a:solidFill>
              </a:rPr>
              <a:t>↓</a:t>
            </a:r>
          </a:p>
        </p:txBody>
      </p:sp>
      <p:sp>
        <p:nvSpPr>
          <p:cNvPr id="51" name="Rounded Rectangle 50"/>
          <p:cNvSpPr/>
          <p:nvPr/>
        </p:nvSpPr>
        <p:spPr>
          <a:xfrm>
            <a:off x="6766560" y="3840480"/>
            <a:ext cx="4462272" cy="320040"/>
          </a:xfrm>
          <a:prstGeom prst="roundRect">
            <a:avLst>
              <a:gd name="adj" fmla="val 25000"/>
            </a:avLst>
          </a:prstGeom>
          <a:solidFill>
            <a:srgbClr val="FFFFFF"/>
          </a:solidFill>
          <a:ln w="12700">
            <a:solidFill>
              <a:srgbClr val="7C4DE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0E141B"/>
                </a:solidFill>
                <a:latin typeface="Arial"/>
              </a:rPr>
              <a:t>Risk score 0–4 + confidence</a:t>
            </a:r>
          </a:p>
        </p:txBody>
      </p:sp>
      <p:sp>
        <p:nvSpPr>
          <p:cNvPr id="52" name="TextBox 51"/>
          <p:cNvSpPr txBox="1"/>
          <p:nvPr/>
        </p:nvSpPr>
        <p:spPr>
          <a:xfrm>
            <a:off x="8860536" y="4137660"/>
            <a:ext cx="274320" cy="137160"/>
          </a:xfrm>
          <a:prstGeom prst="rect">
            <a:avLst/>
          </a:prstGeom>
          <a:noFill/>
        </p:spPr>
        <p:txBody>
          <a:bodyPr wrap="none" lIns="0" tIns="0" rIns="0" bIns="0">
            <a:spAutoFit/>
          </a:bodyPr>
          <a:lstStyle/>
          <a:p>
            <a:pPr algn="ctr"/>
            <a:r>
              <a:rPr sz="1200" b="1">
                <a:solidFill>
                  <a:srgbClr val="7C4DE8"/>
                </a:solidFill>
              </a:rPr>
              <a:t>↓</a:t>
            </a:r>
          </a:p>
        </p:txBody>
      </p:sp>
      <p:sp>
        <p:nvSpPr>
          <p:cNvPr id="53" name="Rounded Rectangle 52"/>
          <p:cNvSpPr/>
          <p:nvPr/>
        </p:nvSpPr>
        <p:spPr>
          <a:xfrm>
            <a:off x="6766560" y="4251960"/>
            <a:ext cx="4462272" cy="320040"/>
          </a:xfrm>
          <a:prstGeom prst="roundRect">
            <a:avLst>
              <a:gd name="adj" fmla="val 25000"/>
            </a:avLst>
          </a:prstGeom>
          <a:solidFill>
            <a:srgbClr val="7C4DE8"/>
          </a:solidFill>
          <a:ln w="12700">
            <a:solidFill>
              <a:srgbClr val="7C4DE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FFFFFF"/>
                </a:solidFill>
                <a:latin typeface="Arial"/>
              </a:rPr>
              <a:t>Action tier → dashboard / crisis resources</a:t>
            </a:r>
          </a:p>
        </p:txBody>
      </p:sp>
      <p:sp>
        <p:nvSpPr>
          <p:cNvPr id="54" name="TextBox 53"/>
          <p:cNvSpPr txBox="1"/>
          <p:nvPr/>
        </p:nvSpPr>
        <p:spPr>
          <a:xfrm>
            <a:off x="6766560" y="4709160"/>
            <a:ext cx="4462272" cy="274320"/>
          </a:xfrm>
          <a:prstGeom prst="rect">
            <a:avLst/>
          </a:prstGeom>
          <a:noFill/>
        </p:spPr>
        <p:txBody>
          <a:bodyPr wrap="none" lIns="0" tIns="0" rIns="0" bIns="0">
            <a:spAutoFit/>
          </a:bodyPr>
          <a:lstStyle/>
          <a:p>
            <a:pPr algn="ctr"/>
            <a:r>
              <a:rPr sz="950" i="1">
                <a:solidFill>
                  <a:srgbClr val="667180"/>
                </a:solidFill>
                <a:latin typeface="Arial"/>
              </a:rPr>
              <a:t>No network calls — everything above runs locally, on-device.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05</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CAN IT ACTUALLY RUN?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the reality check</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Can you build this for real, and keep it running?</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r>
              <a:rPr lang="en-US" sz="1200" i="0" dirty="0">
                <a:solidFill>
                  <a:srgbClr val="0E141B"/>
                </a:solidFill>
                <a:latin typeface="Arial" pitchFamily="34" charset="0"/>
                <a:ea typeface="Arial" pitchFamily="34" charset="-122"/>
                <a:cs typeface="Arial" pitchFamily="34" charset="-120"/>
              </a:rPr>
              <a:t>In scope for the hackathon: the full offline pipeline — teacher model, distilled 22M-parameter student, ONNX export  is already built and running, plus a live on-device demo showing search → classification → dashboard update in real time. Out of scope: a polished mobile app and monitoring surfaces beyond search. It costs nothing to run: no API calls, no server, just local CPU/RAM, targeting under 100ms per query and under 25MB idle. What could break: current accuracy is 69.7%, and one clear crisis phrase scored dangerously low confidence in testing  our fallback is a hard confidence floor that escalates ambiguous high-risk scores instead of downgrading them, and it's the top item on this week's milestone list. After the hackathon: grow the dataset, tighten per-class recall, and pilot with a mental-health nonprofit before any real deployment.</a:t>
            </a: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is in scope, and what is not</a:t>
            </a:r>
            <a:endParaRPr lang="en-US" sz="1100" dirty="0"/>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it costs to run</a:t>
            </a:r>
            <a:endParaRPr lang="en-US" sz="1100" dirty="0"/>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could break, and your fallback</a:t>
            </a:r>
            <a:endParaRPr lang="en-US" sz="1100" dirty="0"/>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Where it goes after the hackathon</a:t>
            </a: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05</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06</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WHY IT MATTERS</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impact and who benefits</a:t>
            </a:r>
            <a:endParaRPr lang="en-US" sz="1100" dirty="0"/>
          </a:p>
        </p:txBody>
      </p:sp>
      <p:sp>
        <p:nvSpPr>
          <p:cNvPr id="18" name="Text 16"/>
          <p:cNvSpPr/>
          <p:nvPr/>
        </p:nvSpPr>
        <p:spPr>
          <a:xfrm>
            <a:off x="822960" y="2103120"/>
            <a:ext cx="7223760"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Who benefits, and by how much?</a:t>
            </a:r>
            <a:endParaRPr lang="en-US" sz="2100" dirty="0"/>
          </a:p>
        </p:txBody>
      </p:sp>
      <p:sp>
        <p:nvSpPr>
          <p:cNvPr id="19" name="Shape 17"/>
          <p:cNvSpPr/>
          <p:nvPr/>
        </p:nvSpPr>
        <p:spPr>
          <a:xfrm>
            <a:off x="822960" y="2770632"/>
            <a:ext cx="7223760"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6931152" cy="2240280"/>
          </a:xfrm>
          <a:prstGeom prst="rect">
            <a:avLst/>
          </a:prstGeom>
          <a:noFill/>
          <a:ln/>
        </p:spPr>
        <p:txBody>
          <a:bodyPr wrap="square" lIns="762" tIns="762" rIns="762" bIns="762" rtlCol="0" anchor="t"/>
          <a:lstStyle/>
          <a:p>
            <a:pPr marL="0" indent="0">
              <a:buNone/>
            </a:pPr>
            <a:r>
              <a:rPr lang="en-US" sz="1300" i="0" dirty="0">
                <a:solidFill>
                  <a:srgbClr val="0E141B"/>
                </a:solidFill>
                <a:latin typeface="Arial" pitchFamily="34" charset="0"/>
                <a:ea typeface="Arial" pitchFamily="34" charset="-122"/>
                <a:cs typeface="Arial" pitchFamily="34" charset="-120"/>
              </a:rPr>
              <a:t>Anyone who searches before they ask a person for help  students, isolated adults, anyone who'd rather type a feeling into a search bar than say it out loud. </a:t>
            </a:r>
            <a:r>
              <a:rPr lang="en-US" sz="1300" i="0" dirty="0" err="1">
                <a:solidFill>
                  <a:srgbClr val="0E141B"/>
                </a:solidFill>
                <a:latin typeface="Arial" pitchFamily="34" charset="0"/>
                <a:ea typeface="Arial" pitchFamily="34" charset="-122"/>
                <a:cs typeface="Arial" pitchFamily="34" charset="-120"/>
              </a:rPr>
              <a:t>HeADGate</a:t>
            </a:r>
            <a:r>
              <a:rPr lang="en-US" sz="1300" i="0" dirty="0">
                <a:solidFill>
                  <a:srgbClr val="0E141B"/>
                </a:solidFill>
                <a:latin typeface="Arial" pitchFamily="34" charset="0"/>
                <a:ea typeface="Arial" pitchFamily="34" charset="-122"/>
                <a:cs typeface="Arial" pitchFamily="34" charset="-120"/>
              </a:rPr>
              <a:t> meets them at that first, quietest signal: before it becomes a hospital admission, and before anyone else has to notice.</a:t>
            </a:r>
            <a:endParaRPr lang="en-US" sz="1100" dirty="0"/>
          </a:p>
        </p:txBody>
      </p:sp>
      <p:sp>
        <p:nvSpPr>
          <p:cNvPr id="21" name="Shape 19"/>
          <p:cNvSpPr/>
          <p:nvPr/>
        </p:nvSpPr>
        <p:spPr>
          <a:xfrm>
            <a:off x="8366760" y="2103120"/>
            <a:ext cx="2999232" cy="2907792"/>
          </a:xfrm>
          <a:prstGeom prst="roundRect">
            <a:avLst>
              <a:gd name="adj" fmla="val 629"/>
            </a:avLst>
          </a:prstGeom>
          <a:solidFill>
            <a:srgbClr val="0E141B"/>
          </a:solidFill>
          <a:ln/>
        </p:spPr>
        <p:txBody>
          <a:bodyPr/>
          <a:lstStyle/>
          <a:p>
            <a:endParaRPr lang="en-IN"/>
          </a:p>
        </p:txBody>
      </p:sp>
      <p:sp>
        <p:nvSpPr>
          <p:cNvPr id="22" name="Text 20"/>
          <p:cNvSpPr/>
          <p:nvPr/>
        </p:nvSpPr>
        <p:spPr>
          <a:xfrm>
            <a:off x="8622792" y="2322576"/>
            <a:ext cx="2487168" cy="237744"/>
          </a:xfrm>
          <a:prstGeom prst="rect">
            <a:avLst/>
          </a:prstGeom>
          <a:noFill/>
          <a:ln/>
        </p:spPr>
        <p:txBody>
          <a:bodyPr wrap="square" lIns="0" tIns="0" rIns="0" bIns="0" rtlCol="0" anchor="ctr"/>
          <a:lstStyle/>
          <a:p>
            <a:pPr marL="0" indent="0">
              <a:buNone/>
            </a:pPr>
            <a:r>
              <a:rPr lang="en-US" sz="950" b="1" kern="0" spc="120" dirty="0">
                <a:solidFill>
                  <a:srgbClr val="B9A2F4"/>
                </a:solidFill>
                <a:latin typeface="Consolas" pitchFamily="34" charset="0"/>
                <a:ea typeface="Consolas" pitchFamily="34" charset="-122"/>
                <a:cs typeface="Consolas" pitchFamily="34" charset="-120"/>
              </a:rPr>
              <a:t>THE ONE NUMBER</a:t>
            </a:r>
            <a:endParaRPr lang="en-US" sz="950" dirty="0"/>
          </a:p>
        </p:txBody>
      </p:sp>
      <p:sp>
        <p:nvSpPr>
          <p:cNvPr id="23" name="Shape 21"/>
          <p:cNvSpPr/>
          <p:nvPr/>
        </p:nvSpPr>
        <p:spPr>
          <a:xfrm>
            <a:off x="8622792" y="2670048"/>
            <a:ext cx="2487168" cy="1005840"/>
          </a:xfrm>
          <a:prstGeom prst="roundRect">
            <a:avLst>
              <a:gd name="adj" fmla="val 3636"/>
            </a:avLst>
          </a:prstGeom>
          <a:solidFill>
            <a:srgbClr val="18212C"/>
          </a:solidFill>
          <a:ln w="9525">
            <a:solidFill>
              <a:srgbClr val="2A3441"/>
            </a:solidFill>
            <a:prstDash val="solid"/>
          </a:ln>
        </p:spPr>
        <p:txBody>
          <a:bodyPr/>
          <a:lstStyle/>
          <a:p>
            <a:endParaRPr lang="en-IN"/>
          </a:p>
        </p:txBody>
      </p:sp>
      <p:sp>
        <p:nvSpPr>
          <p:cNvPr id="24" name="Text 22"/>
          <p:cNvSpPr/>
          <p:nvPr/>
        </p:nvSpPr>
        <p:spPr>
          <a:xfrm>
            <a:off x="8622792" y="2670048"/>
            <a:ext cx="2487168" cy="1005840"/>
          </a:xfrm>
          <a:prstGeom prst="rect">
            <a:avLst/>
          </a:prstGeom>
          <a:noFill/>
          <a:ln/>
        </p:spPr>
        <p:txBody>
          <a:bodyPr wrap="square" lIns="0" tIns="0" rIns="0" bIns="0" rtlCol="0" anchor="ctr"/>
          <a:lstStyle/>
          <a:p>
            <a:pPr marL="0" indent="0" algn="ctr">
              <a:buNone/>
            </a:pPr>
            <a:r>
              <a:rPr lang="en-US" sz="4800" b="1" dirty="0">
                <a:solidFill>
                  <a:srgbClr val="7C4DE8"/>
                </a:solidFill>
                <a:latin typeface="Arial Black" pitchFamily="34" charset="0"/>
                <a:ea typeface="Arial Black" pitchFamily="34" charset="-122"/>
                <a:cs typeface="Arial Black" pitchFamily="34" charset="-120"/>
              </a:rPr>
              <a:t>63%</a:t>
            </a:r>
            <a:endParaRPr lang="en-US" sz="3400" dirty="0"/>
          </a:p>
        </p:txBody>
      </p:sp>
      <p:sp>
        <p:nvSpPr>
          <p:cNvPr id="25" name="Shape 23"/>
          <p:cNvSpPr/>
          <p:nvPr/>
        </p:nvSpPr>
        <p:spPr>
          <a:xfrm>
            <a:off x="8622792" y="3840480"/>
            <a:ext cx="2487168" cy="932688"/>
          </a:xfrm>
          <a:prstGeom prst="roundRect">
            <a:avLst>
              <a:gd name="adj" fmla="val 3922"/>
            </a:avLst>
          </a:prstGeom>
          <a:solidFill>
            <a:srgbClr val="18212C"/>
          </a:solidFill>
          <a:ln w="9525">
            <a:solidFill>
              <a:srgbClr val="2A3441"/>
            </a:solidFill>
            <a:prstDash val="solid"/>
          </a:ln>
        </p:spPr>
        <p:txBody>
          <a:bodyPr/>
          <a:lstStyle/>
          <a:p>
            <a:endParaRPr lang="en-IN"/>
          </a:p>
        </p:txBody>
      </p:sp>
      <p:sp>
        <p:nvSpPr>
          <p:cNvPr id="26" name="Text 24"/>
          <p:cNvSpPr/>
          <p:nvPr/>
        </p:nvSpPr>
        <p:spPr>
          <a:xfrm>
            <a:off x="8769096" y="3840480"/>
            <a:ext cx="2194560" cy="932688"/>
          </a:xfrm>
          <a:prstGeom prst="rect">
            <a:avLst/>
          </a:prstGeom>
          <a:noFill/>
          <a:ln/>
        </p:spPr>
        <p:txBody>
          <a:bodyPr wrap="square" lIns="762" tIns="762" rIns="762" bIns="762" rtlCol="0" anchor="t"/>
          <a:lstStyle/>
          <a:p>
            <a:pPr marL="0" indent="0">
              <a:buNone/>
            </a:pPr>
            <a:r>
              <a:rPr lang="en-US" sz="1100" i="0" dirty="0">
                <a:solidFill>
                  <a:srgbClr val="667180"/>
                </a:solidFill>
                <a:latin typeface="Arial" pitchFamily="34" charset="0"/>
                <a:ea typeface="Arial" pitchFamily="34" charset="-122"/>
                <a:cs typeface="Arial" pitchFamily="34" charset="-120"/>
              </a:rPr>
              <a:t>of young people hospitalized for suicidal thoughts had already searched for it online — the exact moment </a:t>
            </a:r>
            <a:r>
              <a:rPr lang="en-US" sz="1100" i="0" dirty="0" err="1">
                <a:solidFill>
                  <a:srgbClr val="667180"/>
                </a:solidFill>
                <a:latin typeface="Arial" pitchFamily="34" charset="0"/>
                <a:ea typeface="Arial" pitchFamily="34" charset="-122"/>
                <a:cs typeface="Arial" pitchFamily="34" charset="-120"/>
              </a:rPr>
              <a:t>HeADGate</a:t>
            </a:r>
            <a:r>
              <a:rPr lang="en-US" sz="1100" i="0" dirty="0">
                <a:solidFill>
                  <a:srgbClr val="667180"/>
                </a:solidFill>
                <a:latin typeface="Arial" pitchFamily="34" charset="0"/>
                <a:ea typeface="Arial" pitchFamily="34" charset="-122"/>
                <a:cs typeface="Arial" pitchFamily="34" charset="-120"/>
              </a:rPr>
              <a:t> is built to catch.</a:t>
            </a:r>
            <a:endParaRPr lang="en-US" sz="1100" dirty="0"/>
          </a:p>
        </p:txBody>
      </p:sp>
      <p:sp>
        <p:nvSpPr>
          <p:cNvPr id="27" name="Text 25"/>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8" name="Shape 26"/>
          <p:cNvSpPr/>
          <p:nvPr/>
        </p:nvSpPr>
        <p:spPr>
          <a:xfrm>
            <a:off x="822960" y="5596128"/>
            <a:ext cx="91440" cy="91440"/>
          </a:xfrm>
          <a:prstGeom prst="rect">
            <a:avLst/>
          </a:prstGeom>
          <a:solidFill>
            <a:srgbClr val="7C4DE8"/>
          </a:solidFill>
          <a:ln/>
        </p:spPr>
        <p:txBody>
          <a:bodyPr/>
          <a:lstStyle/>
          <a:p>
            <a:endParaRPr lang="en-IN"/>
          </a:p>
        </p:txBody>
      </p:sp>
      <p:sp>
        <p:nvSpPr>
          <p:cNvPr id="29" name="Text 27"/>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measurably improves</a:t>
            </a:r>
            <a:endParaRPr lang="en-US" sz="1100" dirty="0"/>
          </a:p>
        </p:txBody>
      </p:sp>
      <p:sp>
        <p:nvSpPr>
          <p:cNvPr id="30" name="Shape 28"/>
          <p:cNvSpPr/>
          <p:nvPr/>
        </p:nvSpPr>
        <p:spPr>
          <a:xfrm>
            <a:off x="3527298" y="5596128"/>
            <a:ext cx="91440" cy="91440"/>
          </a:xfrm>
          <a:prstGeom prst="rect">
            <a:avLst/>
          </a:prstGeom>
          <a:solidFill>
            <a:srgbClr val="7C4DE8"/>
          </a:solidFill>
          <a:ln/>
        </p:spPr>
        <p:txBody>
          <a:bodyPr/>
          <a:lstStyle/>
          <a:p>
            <a:endParaRPr lang="en-IN"/>
          </a:p>
        </p:txBody>
      </p:sp>
      <p:sp>
        <p:nvSpPr>
          <p:cNvPr id="31" name="Text 29"/>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Who else could use it</a:t>
            </a:r>
            <a:endParaRPr lang="en-US" sz="1100" dirty="0"/>
          </a:p>
        </p:txBody>
      </p:sp>
      <p:sp>
        <p:nvSpPr>
          <p:cNvPr id="32" name="Shape 30"/>
          <p:cNvSpPr/>
          <p:nvPr/>
        </p:nvSpPr>
        <p:spPr>
          <a:xfrm>
            <a:off x="6231636" y="5596128"/>
            <a:ext cx="91440" cy="91440"/>
          </a:xfrm>
          <a:prstGeom prst="rect">
            <a:avLst/>
          </a:prstGeom>
          <a:solidFill>
            <a:srgbClr val="7C4DE8"/>
          </a:solidFill>
          <a:ln/>
        </p:spPr>
        <p:txBody>
          <a:bodyPr/>
          <a:lstStyle/>
          <a:p>
            <a:endParaRPr lang="en-IN"/>
          </a:p>
        </p:txBody>
      </p:sp>
      <p:sp>
        <p:nvSpPr>
          <p:cNvPr id="33" name="Text 31"/>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could go wrong or be misused</a:t>
            </a:r>
            <a:endParaRPr lang="en-US" sz="1100" dirty="0"/>
          </a:p>
        </p:txBody>
      </p:sp>
      <p:sp>
        <p:nvSpPr>
          <p:cNvPr id="34" name="Shape 32"/>
          <p:cNvSpPr/>
          <p:nvPr/>
        </p:nvSpPr>
        <p:spPr>
          <a:xfrm>
            <a:off x="8935974" y="5596128"/>
            <a:ext cx="91440" cy="91440"/>
          </a:xfrm>
          <a:prstGeom prst="rect">
            <a:avLst/>
          </a:prstGeom>
          <a:solidFill>
            <a:srgbClr val="7C4DE8"/>
          </a:solidFill>
          <a:ln/>
        </p:spPr>
        <p:txBody>
          <a:bodyPr/>
          <a:lstStyle/>
          <a:p>
            <a:endParaRPr lang="en-IN"/>
          </a:p>
        </p:txBody>
      </p:sp>
      <p:sp>
        <p:nvSpPr>
          <p:cNvPr id="35" name="Text 33"/>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How you would handle that</a:t>
            </a:r>
            <a:endParaRPr lang="en-US" sz="1100" dirty="0"/>
          </a:p>
        </p:txBody>
      </p:sp>
      <p:sp>
        <p:nvSpPr>
          <p:cNvPr id="36" name="Text 34"/>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7" name="Text 35"/>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06</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8" name="Shape 36"/>
          <p:cNvSpPr/>
          <p:nvPr/>
        </p:nvSpPr>
        <p:spPr>
          <a:xfrm>
            <a:off x="11722608" y="6391656"/>
            <a:ext cx="173736" cy="173736"/>
          </a:xfrm>
          <a:prstGeom prst="rect">
            <a:avLst/>
          </a:prstGeom>
          <a:solidFill>
            <a:srgbClr val="7C4DE8"/>
          </a:solidFill>
          <a:ln/>
        </p:spPr>
        <p:txBody>
          <a:bodyPr/>
          <a:lstStyle/>
          <a:p>
            <a:endParaRPr lang="en-IN"/>
          </a:p>
        </p:txBody>
      </p:sp>
      <p:sp>
        <p:nvSpPr>
          <p:cNvPr id="39" name="Shape 37"/>
          <p:cNvSpPr/>
          <p:nvPr/>
        </p:nvSpPr>
        <p:spPr>
          <a:xfrm>
            <a:off x="11769517" y="6438565"/>
            <a:ext cx="79919" cy="79919"/>
          </a:xfrm>
          <a:prstGeom prst="rect">
            <a:avLst/>
          </a:prstGeom>
          <a:solidFill>
            <a:srgbClr val="FFFFFF"/>
          </a:solidFill>
          <a:ln/>
        </p:spPr>
        <p:txBody>
          <a:bodyPr/>
          <a:lstStyle/>
          <a:p>
            <a:endParaRPr lang="en-IN"/>
          </a:p>
        </p:txBody>
      </p:sp>
      <p:sp>
        <p:nvSpPr>
          <p:cNvPr id="40" name="Shape 38"/>
          <p:cNvSpPr/>
          <p:nvPr/>
        </p:nvSpPr>
        <p:spPr>
          <a:xfrm>
            <a:off x="11752143" y="6356909"/>
            <a:ext cx="29535" cy="34747"/>
          </a:xfrm>
          <a:prstGeom prst="rect">
            <a:avLst/>
          </a:prstGeom>
          <a:solidFill>
            <a:srgbClr val="7C4DE8"/>
          </a:solidFill>
          <a:ln/>
        </p:spPr>
        <p:txBody>
          <a:bodyPr/>
          <a:lstStyle/>
          <a:p>
            <a:endParaRPr lang="en-IN"/>
          </a:p>
        </p:txBody>
      </p:sp>
      <p:sp>
        <p:nvSpPr>
          <p:cNvPr id="41" name="Shape 39"/>
          <p:cNvSpPr/>
          <p:nvPr/>
        </p:nvSpPr>
        <p:spPr>
          <a:xfrm>
            <a:off x="11752143" y="6565392"/>
            <a:ext cx="29535" cy="34747"/>
          </a:xfrm>
          <a:prstGeom prst="rect">
            <a:avLst/>
          </a:prstGeom>
          <a:solidFill>
            <a:srgbClr val="7C4DE8"/>
          </a:solidFill>
          <a:ln/>
        </p:spPr>
        <p:txBody>
          <a:bodyPr/>
          <a:lstStyle/>
          <a:p>
            <a:endParaRPr lang="en-IN"/>
          </a:p>
        </p:txBody>
      </p:sp>
      <p:sp>
        <p:nvSpPr>
          <p:cNvPr id="42" name="Shape 40"/>
          <p:cNvSpPr/>
          <p:nvPr/>
        </p:nvSpPr>
        <p:spPr>
          <a:xfrm>
            <a:off x="11687861" y="6421191"/>
            <a:ext cx="34747" cy="29535"/>
          </a:xfrm>
          <a:prstGeom prst="rect">
            <a:avLst/>
          </a:prstGeom>
          <a:solidFill>
            <a:srgbClr val="7C4DE8"/>
          </a:solidFill>
          <a:ln/>
        </p:spPr>
        <p:txBody>
          <a:bodyPr/>
          <a:lstStyle/>
          <a:p>
            <a:endParaRPr lang="en-IN"/>
          </a:p>
        </p:txBody>
      </p:sp>
      <p:sp>
        <p:nvSpPr>
          <p:cNvPr id="43" name="Shape 41"/>
          <p:cNvSpPr/>
          <p:nvPr/>
        </p:nvSpPr>
        <p:spPr>
          <a:xfrm>
            <a:off x="11896344" y="6421191"/>
            <a:ext cx="34747" cy="29535"/>
          </a:xfrm>
          <a:prstGeom prst="rect">
            <a:avLst/>
          </a:prstGeom>
          <a:solidFill>
            <a:srgbClr val="7C4DE8"/>
          </a:solidFill>
          <a:ln/>
        </p:spPr>
        <p:txBody>
          <a:bodyPr/>
          <a:lstStyle/>
          <a:p>
            <a:endParaRPr lang="en-IN"/>
          </a:p>
        </p:txBody>
      </p:sp>
      <p:sp>
        <p:nvSpPr>
          <p:cNvPr id="44" name="Shape 42"/>
          <p:cNvSpPr/>
          <p:nvPr/>
        </p:nvSpPr>
        <p:spPr>
          <a:xfrm>
            <a:off x="11837274" y="6356909"/>
            <a:ext cx="29535" cy="34747"/>
          </a:xfrm>
          <a:prstGeom prst="rect">
            <a:avLst/>
          </a:prstGeom>
          <a:solidFill>
            <a:srgbClr val="7C4DE8"/>
          </a:solidFill>
          <a:ln/>
        </p:spPr>
        <p:txBody>
          <a:bodyPr/>
          <a:lstStyle/>
          <a:p>
            <a:endParaRPr lang="en-IN"/>
          </a:p>
        </p:txBody>
      </p:sp>
      <p:sp>
        <p:nvSpPr>
          <p:cNvPr id="45" name="Shape 43"/>
          <p:cNvSpPr/>
          <p:nvPr/>
        </p:nvSpPr>
        <p:spPr>
          <a:xfrm>
            <a:off x="11837274" y="6565392"/>
            <a:ext cx="29535" cy="34747"/>
          </a:xfrm>
          <a:prstGeom prst="rect">
            <a:avLst/>
          </a:prstGeom>
          <a:solidFill>
            <a:srgbClr val="7C4DE8"/>
          </a:solidFill>
          <a:ln/>
        </p:spPr>
        <p:txBody>
          <a:bodyPr/>
          <a:lstStyle/>
          <a:p>
            <a:endParaRPr lang="en-IN"/>
          </a:p>
        </p:txBody>
      </p:sp>
      <p:sp>
        <p:nvSpPr>
          <p:cNvPr id="46" name="Shape 44"/>
          <p:cNvSpPr/>
          <p:nvPr/>
        </p:nvSpPr>
        <p:spPr>
          <a:xfrm>
            <a:off x="11687861" y="6506322"/>
            <a:ext cx="34747" cy="29535"/>
          </a:xfrm>
          <a:prstGeom prst="rect">
            <a:avLst/>
          </a:prstGeom>
          <a:solidFill>
            <a:srgbClr val="7C4DE8"/>
          </a:solidFill>
          <a:ln/>
        </p:spPr>
        <p:txBody>
          <a:bodyPr/>
          <a:lstStyle/>
          <a:p>
            <a:endParaRPr lang="en-IN"/>
          </a:p>
        </p:txBody>
      </p:sp>
      <p:sp>
        <p:nvSpPr>
          <p:cNvPr id="47" name="Shape 45"/>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07</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WHAT WE BUILT ON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research and references</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What did you build on?</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buNone/>
            </a:pPr>
            <a:r>
              <a:rPr lang="en-US" sz="1100" b="0" i="0" dirty="0">
                <a:solidFill>
                  <a:srgbClr val="0E141B"/>
                </a:solidFill>
                <a:latin typeface="Arial" pitchFamily="34" charset="0"/>
                <a:ea typeface="Arial" pitchFamily="34" charset="-122"/>
                <a:cs typeface="Arial" pitchFamily="34" charset="-120"/>
              </a:rPr>
              <a:t>[1] Moon et al., “Internet Search Activity of Young People With Mood Disorders Who Are Hospitalized for Suicidal Thoughts and Behaviors,” JMIR Mental Health, 2021 — the evidence behind our problem framing (63% of hospitalized youth had already searched online).</a:t>
            </a:r>
            <a:endParaRPr lang="en-US" sz="1100" dirty="0"/>
          </a:p>
          <a:p>
            <a:pPr marL="0" indent="0">
              <a:buNone/>
            </a:pPr>
            <a:r>
              <a:rPr sz="1100" b="0" i="0" dirty="0">
                <a:solidFill>
                  <a:srgbClr val="0E141B"/>
                </a:solidFill>
                <a:latin typeface="Arial"/>
              </a:rPr>
              <a:t>[2] Qwen2.5-7B-Instruct (</a:t>
            </a:r>
            <a:r>
              <a:rPr sz="1100" b="0" i="0" dirty="0" err="1">
                <a:solidFill>
                  <a:srgbClr val="0E141B"/>
                </a:solidFill>
                <a:latin typeface="Arial"/>
              </a:rPr>
              <a:t>Qwen</a:t>
            </a:r>
            <a:r>
              <a:rPr sz="1100" b="0" i="0" dirty="0">
                <a:solidFill>
                  <a:srgbClr val="0E141B"/>
                </a:solidFill>
                <a:latin typeface="Arial"/>
              </a:rPr>
              <a:t> Team, Alibaba Cloud, 2024, Apache 2.0 license) — our teacher model, zero-shot prompted with a 5-level clinical risk rubric to generate training labels.</a:t>
            </a:r>
            <a:endParaRPr lang="en-US" sz="1100" dirty="0"/>
          </a:p>
          <a:p>
            <a:pPr marL="0" indent="0">
              <a:buNone/>
            </a:pPr>
            <a:r>
              <a:rPr lang="en-US" sz="1100" b="0" i="0" dirty="0">
                <a:solidFill>
                  <a:srgbClr val="0E141B"/>
                </a:solidFill>
                <a:latin typeface="Arial" pitchFamily="34" charset="0"/>
                <a:ea typeface="Arial" pitchFamily="34" charset="-122"/>
                <a:cs typeface="Arial" pitchFamily="34" charset="-120"/>
              </a:rPr>
              <a:t>[3] sentence-transformers/all-MiniLM-L6-v2 (Reimers &amp; Gurevych, Sentence-Transformers, Apache 2.0 license) — fine-tuned as our 5-way student classifier and exported to ONNX.</a:t>
            </a:r>
            <a:endParaRPr lang="en-US" sz="1100" dirty="0"/>
          </a:p>
          <a:p>
            <a:pPr marL="0" indent="0">
              <a:buNone/>
            </a:pPr>
            <a:r>
              <a:rPr lang="en-US" sz="1100" b="0" i="0" dirty="0">
                <a:solidFill>
                  <a:srgbClr val="0E141B"/>
                </a:solidFill>
                <a:latin typeface="Arial" pitchFamily="34" charset="0"/>
                <a:ea typeface="Arial" pitchFamily="34" charset="-122"/>
                <a:cs typeface="Arial" pitchFamily="34" charset="-120"/>
              </a:rPr>
              <a:t>[4] Suicide_Detection.csv (public dataset, Kaggle) — our base data, cleaned and balanced to 3,000 labeled samples before distillation.</a:t>
            </a:r>
            <a:endParaRPr lang="en-US" sz="1100" dirty="0"/>
          </a:p>
          <a:p>
            <a:pPr marL="0" indent="0">
              <a:buNone/>
            </a:pPr>
            <a:r>
              <a:rPr lang="en-US" sz="1100" b="1" i="0" dirty="0">
                <a:solidFill>
                  <a:srgbClr val="0E141B"/>
                </a:solidFill>
                <a:latin typeface="Arial" pitchFamily="34" charset="0"/>
                <a:ea typeface="Arial" pitchFamily="34" charset="-122"/>
                <a:cs typeface="Arial" pitchFamily="34" charset="-120"/>
              </a:rPr>
              <a:t>Everything past the raw data and pretrained weights is ours: the risk rubric, the labeling pipeline, the student fine-tuning, the ONNX export, and the on-device agent architecture.</a:t>
            </a:r>
            <a:endParaRPr lang="en-US" sz="1100" dirty="0"/>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Author, title and year for papers</a:t>
            </a:r>
            <a:endParaRPr lang="en-US" sz="1100" dirty="0"/>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each source gave you</a:t>
            </a:r>
            <a:endParaRPr lang="en-US" sz="1100" dirty="0"/>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What is borrowed vs what is yours</a:t>
            </a:r>
            <a:endParaRPr lang="en-US" sz="1100" dirty="0"/>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100" dirty="0">
                <a:solidFill>
                  <a:srgbClr val="667180"/>
                </a:solidFill>
                <a:latin typeface="Arial" pitchFamily="34" charset="0"/>
                <a:ea typeface="Arial" pitchFamily="34" charset="-122"/>
                <a:cs typeface="Arial" pitchFamily="34" charset="-120"/>
              </a:rPr>
              <a:t>Dataset and model licences</a:t>
            </a:r>
            <a:endParaRPr lang="en-US" sz="1100" dirty="0"/>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07</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388</TotalTime>
  <Words>1538</Words>
  <Application>Microsoft Office PowerPoint</Application>
  <PresentationFormat>Widescreen</PresentationFormat>
  <Paragraphs>143</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AWS Student Builder Groups, 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FRONTIER 2026 - Submission Template</dc:title>
  <dc:subject>PptxGenJS Presentation</dc:subject>
  <dc:creator>AWS Student Builder Groups - VIT Chennai</dc:creator>
  <cp:lastModifiedBy>Admin</cp:lastModifiedBy>
  <cp:revision>4</cp:revision>
  <dcterms:created xsi:type="dcterms:W3CDTF">2026-07-27T09:18:57Z</dcterms:created>
  <dcterms:modified xsi:type="dcterms:W3CDTF">2026-07-29T14:14:17Z</dcterms:modified>
</cp:coreProperties>
</file>